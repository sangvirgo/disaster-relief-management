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tên sản phẩm Reliva (mã đồ án C48) và nhóm thực hiện. Hệ thống Web/Mobile kết nối người dân, đội cứu hộ và trung tâm điều phối.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tin rải rác qua nhiều kênh nên khó xác minh, khó điều phối, khó truy vết. Đây là giả thuyết của nhóm, không phải số liệu khảo sát.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1-3 là trọng tâm demo. Luồng 4 quyên góp là phần hỗ trợ, demo ngắn và tùy chọn.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mở biểu mẫu SOS, chọn vị trí, điền mô tả, gửi. Chỉ báo đã tiếp nhận sau khi server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điểm thiết kế: báo hộ tách bạch dữ liệu, chống mất tín hiệu khi mạng yếu, theo dõi bằng mã riêng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quyết định (xác minh, ưu tiên, chọn đội, đóng) là của con người, có ghi người thực hiện, thời điểm và lý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thay đổi mức ưu tiên lưu người thực hiện, thời điểm, giá trị trước và sau. AI nếu dùng chỉ gợi ý, không tự đổi mức.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Đội nhận lời mời, cập nhật từng trạng thái, không được nhảy bước. Mỗi chuyển trạng thái lưu người thực hiện, thời điểm, ghi chú và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đội (quân đội, chính quyền) không dùng ứng dụng nên điều phối viên ghi thay với nguồn báo rõ ràng. Việc đóng yêu cầu luôn do con người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hỗ trợ, demo ngắn: khai báo, kiểm đếm, duyệt độc lập, ghi kho. Người đếm và người duyệt khác nhau. Phần mềm cung cấp bằng chứng điều tra, không cam kết loại trừ gian lận.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kỹ thuật chung của đồ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 là trung tâm của luồng khẩn cấp. Mỗi dịch vụ có schema, migration và thông tin đăng nhập DB riêng dù chạy chung một PostgreSQL. SOS của khách vẫn hoạt động khi Identity gặp sự cố.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quyết định thiết kế của nhóm, không phải yêu cầu từ đề bài. Chọn NestJS/TypeScript để thống nhất ngôn ngữ giữa backend, web và mobile. Không dùng dịch vụ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cơ chế bảo đảm dữ liệu đáng tin. Với kho: số liệu đối chiếu được từ lịch sử, không sửa hay xóa sổ cũ để cân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Quyền truy cập theo phạm vi; nội dung người dùng thấy là tiếng Việt, hợp đồng máy đọc được giữ ổn định; AI chỉ là cố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có một file Docker Compose, không tạo cơ sở dữ liệu hay container riêng cho kiểm thử. Nêu kết quả kiểm thử thực tế của nhóm: [số test case đã chạy /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tập trung vào luồng SOS có con người xác minh và quyết định. Các điểm còn mở: tiêu chí ưu tiên, ngưỡng hiệu năng, AI,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457200"/>
            <a:ext cx="1280160" cy="128016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689458" y="598018"/>
            <a:ext cx="998525" cy="998525"/>
          </a:xfrm>
          <a:prstGeom prst="rect">
            <a:avLst/>
          </a:prstGeom>
        </p:spPr>
      </p:pic>
      <p:sp>
        <p:nvSpPr>
          <p:cNvPr id="4" name="Text 1"/>
          <p:cNvSpPr txBox="1"/>
          <p:nvPr/>
        </p:nvSpPr>
        <p:spPr>
          <a:xfrm>
            <a:off x="548640" y="2011680"/>
            <a:ext cx="11094415" cy="365760"/>
          </a:xfrm>
          <a:prstGeom prst="rect">
            <a:avLst/>
          </a:prstGeom>
          <a:noFill/>
          <a:ln/>
        </p:spPr>
        <p:txBody>
          <a:bodyPr wrap="square" lIns="0" tIns="0" rIns="0" bIns="0" rtlCol="0" anchor="ctr"/>
          <a:lstStyle/>
          <a:p>
            <a:pPr indent="0" marL="0">
              <a:buNone/>
            </a:pPr>
            <a:r>
              <a:rPr lang="en-US" sz="1600" b="1" spc="300" kern="0" dirty="0">
                <a:solidFill>
                  <a:srgbClr val="F28A5B"/>
                </a:solidFill>
              </a:rPr>
              <a:t>ĐỒ ÁN CHUYÊN NGÀNH · CAPSTONE</a:t>
            </a:r>
            <a:endParaRPr lang="en-US" sz="1600" dirty="0"/>
          </a:p>
        </p:txBody>
      </p:sp>
      <p:sp>
        <p:nvSpPr>
          <p:cNvPr id="5" name="Text 2"/>
          <p:cNvSpPr txBox="1"/>
          <p:nvPr/>
        </p:nvSpPr>
        <p:spPr>
          <a:xfrm>
            <a:off x="548640" y="2468880"/>
            <a:ext cx="11094415" cy="1463040"/>
          </a:xfrm>
          <a:prstGeom prst="rect">
            <a:avLst/>
          </a:prstGeom>
          <a:noFill/>
          <a:ln/>
        </p:spPr>
        <p:txBody>
          <a:bodyPr wrap="square" lIns="0" tIns="0" rIns="0" bIns="0" rtlCol="0" anchor="ctr"/>
          <a:lstStyle/>
          <a:p>
            <a:pPr indent="0" marL="0">
              <a:buNone/>
            </a:pPr>
            <a:r>
              <a:rPr lang="en-US" sz="8000" b="1" dirty="0">
                <a:solidFill>
                  <a:srgbClr val="F4F6F9"/>
                </a:solidFill>
              </a:rPr>
              <a:t>Reliva</a:t>
            </a:r>
            <a:endParaRPr lang="en-US" sz="8000" dirty="0"/>
          </a:p>
        </p:txBody>
      </p:sp>
      <p:sp>
        <p:nvSpPr>
          <p:cNvPr id="6" name="Text 3"/>
          <p:cNvSpPr txBox="1"/>
          <p:nvPr/>
        </p:nvSpPr>
        <p:spPr>
          <a:xfrm>
            <a:off x="548640" y="3931920"/>
            <a:ext cx="11094415" cy="640080"/>
          </a:xfrm>
          <a:prstGeom prst="rect">
            <a:avLst/>
          </a:prstGeom>
          <a:noFill/>
          <a:ln/>
        </p:spPr>
        <p:txBody>
          <a:bodyPr wrap="square" lIns="0" tIns="0" rIns="0" bIns="0" rtlCol="0" anchor="ctr"/>
          <a:lstStyle/>
          <a:p>
            <a:pPr indent="0" marL="0">
              <a:buNone/>
            </a:pPr>
            <a:r>
              <a:rPr lang="en-US" sz="2800" b="1" dirty="0">
                <a:solidFill>
                  <a:srgbClr val="F4F6F9"/>
                </a:solidFill>
              </a:rPr>
              <a:t>Hệ thống quản lý ứng phó khẩn cấp và cứu trợ thiên tai</a:t>
            </a:r>
            <a:endParaRPr lang="en-US" sz="2800" dirty="0"/>
          </a:p>
        </p:txBody>
      </p:sp>
      <p:sp>
        <p:nvSpPr>
          <p:cNvPr id="7" name="Text 4"/>
          <p:cNvSpPr txBox="1"/>
          <p:nvPr/>
        </p:nvSpPr>
        <p:spPr>
          <a:xfrm>
            <a:off x="548640" y="4846320"/>
            <a:ext cx="11094415" cy="365760"/>
          </a:xfrm>
          <a:prstGeom prst="rect">
            <a:avLst/>
          </a:prstGeom>
          <a:noFill/>
          <a:ln/>
        </p:spPr>
        <p:txBody>
          <a:bodyPr wrap="square" lIns="0" tIns="0" rIns="0" bIns="0" rtlCol="0" anchor="ctr"/>
          <a:lstStyle/>
          <a:p>
            <a:pPr indent="0" marL="0">
              <a:buNone/>
            </a:pPr>
            <a:r>
              <a:rPr lang="en-US" sz="1600" dirty="0">
                <a:solidFill>
                  <a:srgbClr val="9AA8BD"/>
                </a:solidFill>
              </a:rPr>
              <a:t>Nguyễn Lưu Tấn Sang · Vũ Ngọc Sơn · Đỗ Xuân Trí — Lớp D22CQCNPM01-N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BỐI CẢNH VÀ BÀI TOÁN</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Thông tin cứu trợ bị phân mảnh nên việc phối hợp chậm và thiếu minh bạch</a:t>
            </a:r>
            <a:endParaRPr lang="en-US" sz="3200" dirty="0"/>
          </a:p>
        </p:txBody>
      </p:sp>
      <p:sp>
        <p:nvSpPr>
          <p:cNvPr id="6" name="Shape 3"/>
          <p:cNvSpPr/>
          <p:nvPr/>
        </p:nvSpPr>
        <p:spPr>
          <a:xfrm>
            <a:off x="548640" y="2286000"/>
            <a:ext cx="3545738" cy="2560320"/>
          </a:xfrm>
          <a:prstGeom prst="roundRect">
            <a:avLst>
              <a:gd name="adj" fmla="val 4286"/>
            </a:avLst>
          </a:prstGeom>
          <a:solidFill>
            <a:srgbClr val="FFFFFF"/>
          </a:solidFill>
          <a:ln w="12700">
            <a:solidFill>
              <a:srgbClr val="D9DEE6"/>
            </a:solidFill>
            <a:prstDash val="solid"/>
          </a:ln>
        </p:spPr>
      </p:sp>
      <p:sp>
        <p:nvSpPr>
          <p:cNvPr id="7" name="Text 4"/>
          <p:cNvSpPr txBox="1"/>
          <p:nvPr/>
        </p:nvSpPr>
        <p:spPr>
          <a:xfrm>
            <a:off x="777240" y="2468880"/>
            <a:ext cx="3088538" cy="548640"/>
          </a:xfrm>
          <a:prstGeom prst="rect">
            <a:avLst/>
          </a:prstGeom>
          <a:noFill/>
          <a:ln/>
        </p:spPr>
        <p:txBody>
          <a:bodyPr wrap="square" lIns="0" tIns="0" rIns="0" bIns="0" rtlCol="0" anchor="t"/>
          <a:lstStyle/>
          <a:p>
            <a:pPr indent="0" marL="0">
              <a:buNone/>
            </a:pPr>
            <a:r>
              <a:rPr lang="en-US" sz="2400" b="1" dirty="0">
                <a:solidFill>
                  <a:srgbClr val="14213D"/>
                </a:solidFill>
              </a:rPr>
              <a:t>Khó xác minh</a:t>
            </a:r>
            <a:endParaRPr lang="en-US" sz="2400" dirty="0"/>
          </a:p>
        </p:txBody>
      </p:sp>
      <p:sp>
        <p:nvSpPr>
          <p:cNvPr id="8" name="Text 5"/>
          <p:cNvSpPr txBox="1"/>
          <p:nvPr/>
        </p:nvSpPr>
        <p:spPr>
          <a:xfrm>
            <a:off x="777240" y="3063240"/>
            <a:ext cx="3088538" cy="1645920"/>
          </a:xfrm>
          <a:prstGeom prst="rect">
            <a:avLst/>
          </a:prstGeom>
          <a:noFill/>
          <a:ln/>
        </p:spPr>
        <p:txBody>
          <a:bodyPr wrap="square" lIns="0" tIns="0" rIns="0" bIns="0" rtlCol="0" anchor="t"/>
          <a:lstStyle/>
          <a:p>
            <a:pPr indent="0" marL="0">
              <a:buNone/>
            </a:pPr>
            <a:r>
              <a:rPr lang="en-US" sz="1800" dirty="0">
                <a:solidFill>
                  <a:srgbClr val="3B4659"/>
                </a:solidFill>
              </a:rPr>
              <a:t>Yêu cầu thiếu vị trí, số người hoặc thời điểm. Báo trùng làm lệch thống kê và có thể điều đội lặp lại.</a:t>
            </a:r>
            <a:endParaRPr lang="en-US" sz="1800" dirty="0"/>
          </a:p>
        </p:txBody>
      </p:sp>
      <p:sp>
        <p:nvSpPr>
          <p:cNvPr id="9" name="Shape 6"/>
          <p:cNvSpPr/>
          <p:nvPr/>
        </p:nvSpPr>
        <p:spPr>
          <a:xfrm>
            <a:off x="4322978" y="2286000"/>
            <a:ext cx="3545738" cy="2560320"/>
          </a:xfrm>
          <a:prstGeom prst="roundRect">
            <a:avLst>
              <a:gd name="adj" fmla="val 4286"/>
            </a:avLst>
          </a:prstGeom>
          <a:solidFill>
            <a:srgbClr val="FFFFFF"/>
          </a:solidFill>
          <a:ln w="12700">
            <a:solidFill>
              <a:srgbClr val="D9DEE6"/>
            </a:solidFill>
            <a:prstDash val="solid"/>
          </a:ln>
        </p:spPr>
      </p:sp>
      <p:sp>
        <p:nvSpPr>
          <p:cNvPr id="10" name="Text 7"/>
          <p:cNvSpPr txBox="1"/>
          <p:nvPr/>
        </p:nvSpPr>
        <p:spPr>
          <a:xfrm>
            <a:off x="4551578" y="2468880"/>
            <a:ext cx="3088538" cy="548640"/>
          </a:xfrm>
          <a:prstGeom prst="rect">
            <a:avLst/>
          </a:prstGeom>
          <a:noFill/>
          <a:ln/>
        </p:spPr>
        <p:txBody>
          <a:bodyPr wrap="square" lIns="0" tIns="0" rIns="0" bIns="0" rtlCol="0" anchor="t"/>
          <a:lstStyle/>
          <a:p>
            <a:pPr indent="0" marL="0">
              <a:buNone/>
            </a:pPr>
            <a:r>
              <a:rPr lang="en-US" sz="2400" b="1" dirty="0">
                <a:solidFill>
                  <a:srgbClr val="14213D"/>
                </a:solidFill>
              </a:rPr>
              <a:t>Khó điều phối</a:t>
            </a:r>
            <a:endParaRPr lang="en-US" sz="2400" dirty="0"/>
          </a:p>
        </p:txBody>
      </p:sp>
      <p:sp>
        <p:nvSpPr>
          <p:cNvPr id="11" name="Text 8"/>
          <p:cNvSpPr txBox="1"/>
          <p:nvPr/>
        </p:nvSpPr>
        <p:spPr>
          <a:xfrm>
            <a:off x="4551578" y="3063240"/>
            <a:ext cx="3088538" cy="1645920"/>
          </a:xfrm>
          <a:prstGeom prst="rect">
            <a:avLst/>
          </a:prstGeom>
          <a:noFill/>
          <a:ln/>
        </p:spPr>
        <p:txBody>
          <a:bodyPr wrap="square" lIns="0" tIns="0" rIns="0" bIns="0" rtlCol="0" anchor="t"/>
          <a:lstStyle/>
          <a:p>
            <a:pPr indent="0" marL="0">
              <a:buNone/>
            </a:pPr>
            <a:r>
              <a:rPr lang="en-US" sz="1800" dirty="0">
                <a:solidFill>
                  <a:srgbClr val="3B4659"/>
                </a:solidFill>
              </a:rPr>
              <a:t>Điều phối viên thiếu cái nhìn chung về yêu cầu chờ xác minh, nhiệm vụ đang chạy và nguồn lực sẵn có.</a:t>
            </a:r>
            <a:endParaRPr lang="en-US" sz="1800" dirty="0"/>
          </a:p>
        </p:txBody>
      </p:sp>
      <p:sp>
        <p:nvSpPr>
          <p:cNvPr id="12" name="Shape 9"/>
          <p:cNvSpPr/>
          <p:nvPr/>
        </p:nvSpPr>
        <p:spPr>
          <a:xfrm>
            <a:off x="8097317" y="2286000"/>
            <a:ext cx="3545738" cy="2560320"/>
          </a:xfrm>
          <a:prstGeom prst="roundRect">
            <a:avLst>
              <a:gd name="adj" fmla="val 4286"/>
            </a:avLst>
          </a:prstGeom>
          <a:solidFill>
            <a:srgbClr val="FFFFFF"/>
          </a:solidFill>
          <a:ln w="12700">
            <a:solidFill>
              <a:srgbClr val="D9DEE6"/>
            </a:solidFill>
            <a:prstDash val="solid"/>
          </a:ln>
        </p:spPr>
      </p:sp>
      <p:sp>
        <p:nvSpPr>
          <p:cNvPr id="13" name="Text 10"/>
          <p:cNvSpPr txBox="1"/>
          <p:nvPr/>
        </p:nvSpPr>
        <p:spPr>
          <a:xfrm>
            <a:off x="8325917" y="2468880"/>
            <a:ext cx="3088538" cy="548640"/>
          </a:xfrm>
          <a:prstGeom prst="rect">
            <a:avLst/>
          </a:prstGeom>
          <a:noFill/>
          <a:ln/>
        </p:spPr>
        <p:txBody>
          <a:bodyPr wrap="square" lIns="0" tIns="0" rIns="0" bIns="0" rtlCol="0" anchor="t"/>
          <a:lstStyle/>
          <a:p>
            <a:pPr indent="0" marL="0">
              <a:buNone/>
            </a:pPr>
            <a:r>
              <a:rPr lang="en-US" sz="2400" b="1" dirty="0">
                <a:solidFill>
                  <a:srgbClr val="14213D"/>
                </a:solidFill>
              </a:rPr>
              <a:t>Khó truy vết</a:t>
            </a:r>
            <a:endParaRPr lang="en-US" sz="2400" dirty="0"/>
          </a:p>
        </p:txBody>
      </p:sp>
      <p:sp>
        <p:nvSpPr>
          <p:cNvPr id="14" name="Text 11"/>
          <p:cNvSpPr txBox="1"/>
          <p:nvPr/>
        </p:nvSpPr>
        <p:spPr>
          <a:xfrm>
            <a:off x="8325917" y="3063240"/>
            <a:ext cx="3088538" cy="1645920"/>
          </a:xfrm>
          <a:prstGeom prst="rect">
            <a:avLst/>
          </a:prstGeom>
          <a:noFill/>
          <a:ln/>
        </p:spPr>
        <p:txBody>
          <a:bodyPr wrap="square" lIns="0" tIns="0" rIns="0" bIns="0" rtlCol="0" anchor="t"/>
          <a:lstStyle/>
          <a:p>
            <a:pPr indent="0" marL="0">
              <a:buNone/>
            </a:pPr>
            <a:r>
              <a:rPr lang="en-US" sz="1800" dirty="0">
                <a:solidFill>
                  <a:srgbClr val="3B4659"/>
                </a:solidFill>
              </a:rPr>
              <a:t>Hàng cứu trợ và các quyết định khó đối chiếu khi không có lịch sử người thực hiện và thời điểm.</a:t>
            </a:r>
            <a:endParaRPr lang="en-US" sz="1800" dirty="0"/>
          </a:p>
        </p:txBody>
      </p:sp>
      <p:sp>
        <p:nvSpPr>
          <p:cNvPr id="15" name="Text 12"/>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Đây là các giả thuyết vấn đề của đồ án, chưa phải số liệu khảo sát thực địa.</a:t>
            </a:r>
            <a:endParaRPr lang="en-US" sz="1200" dirty="0"/>
          </a:p>
        </p:txBody>
      </p:sp>
      <p:sp>
        <p:nvSpPr>
          <p:cNvPr id="16" name="Text 13"/>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F28A5B"/>
                </a:solidFill>
              </a:rPr>
              <a:t>TỔNG QUAN HỆ THỐNG</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F4F6F9"/>
                </a:solidFill>
              </a:rPr>
              <a:t>Bốn luồng nghiệp vụ nối người dân, điều phối viên và đội cứu hộ</a:t>
            </a:r>
            <a:endParaRPr lang="en-US" sz="3200" dirty="0"/>
          </a:p>
        </p:txBody>
      </p:sp>
      <p:sp>
        <p:nvSpPr>
          <p:cNvPr id="6" name="Shape 3"/>
          <p:cNvSpPr/>
          <p:nvPr/>
        </p:nvSpPr>
        <p:spPr>
          <a:xfrm>
            <a:off x="548640" y="2194560"/>
            <a:ext cx="2602154" cy="2194560"/>
          </a:xfrm>
          <a:prstGeom prst="roundRect">
            <a:avLst>
              <a:gd name="adj" fmla="val 5000"/>
            </a:avLst>
          </a:prstGeom>
          <a:solidFill>
            <a:srgbClr val="1B2A42"/>
          </a:solidFill>
          <a:ln w="12700">
            <a:solidFill>
              <a:srgbClr val="2B3D5C"/>
            </a:solidFill>
            <a:prstDash val="solid"/>
          </a:ln>
        </p:spPr>
      </p:sp>
      <p:sp>
        <p:nvSpPr>
          <p:cNvPr id="7" name="Text 4"/>
          <p:cNvSpPr txBox="1"/>
          <p:nvPr/>
        </p:nvSpPr>
        <p:spPr>
          <a:xfrm>
            <a:off x="777240" y="2377440"/>
            <a:ext cx="2144954" cy="274320"/>
          </a:xfrm>
          <a:prstGeom prst="rect">
            <a:avLst/>
          </a:prstGeom>
          <a:noFill/>
          <a:ln/>
        </p:spPr>
        <p:txBody>
          <a:bodyPr wrap="square" lIns="0" tIns="0" rIns="0" bIns="0" rtlCol="0" anchor="ctr"/>
          <a:lstStyle/>
          <a:p>
            <a:pPr indent="0" marL="0">
              <a:buNone/>
            </a:pPr>
            <a:r>
              <a:rPr lang="en-US" sz="1400" b="1" dirty="0">
                <a:solidFill>
                  <a:srgbClr val="F28A5B"/>
                </a:solidFill>
              </a:rPr>
              <a:t>Luồng 1</a:t>
            </a:r>
            <a:endParaRPr lang="en-US" sz="1400" dirty="0"/>
          </a:p>
        </p:txBody>
      </p:sp>
      <p:sp>
        <p:nvSpPr>
          <p:cNvPr id="8" name="Text 5"/>
          <p:cNvSpPr txBox="1"/>
          <p:nvPr/>
        </p:nvSpPr>
        <p:spPr>
          <a:xfrm>
            <a:off x="777240" y="2697480"/>
            <a:ext cx="2144954" cy="822960"/>
          </a:xfrm>
          <a:prstGeom prst="rect">
            <a:avLst/>
          </a:prstGeom>
          <a:noFill/>
          <a:ln/>
        </p:spPr>
        <p:txBody>
          <a:bodyPr wrap="square" lIns="0" tIns="0" rIns="0" bIns="0" rtlCol="0" anchor="t"/>
          <a:lstStyle/>
          <a:p>
            <a:pPr indent="0" marL="0">
              <a:buNone/>
            </a:pPr>
            <a:r>
              <a:rPr lang="en-US" sz="2200" b="1" dirty="0">
                <a:solidFill>
                  <a:srgbClr val="F4F6F9"/>
                </a:solidFill>
              </a:rPr>
              <a:t>Gửi tín hiệu SOS</a:t>
            </a:r>
            <a:endParaRPr lang="en-US" sz="2200" dirty="0"/>
          </a:p>
        </p:txBody>
      </p:sp>
      <p:sp>
        <p:nvSpPr>
          <p:cNvPr id="9" name="Text 6"/>
          <p:cNvSpPr txBox="1"/>
          <p:nvPr/>
        </p:nvSpPr>
        <p:spPr>
          <a:xfrm>
            <a:off x="777240" y="3566160"/>
            <a:ext cx="2144954" cy="685800"/>
          </a:xfrm>
          <a:prstGeom prst="rect">
            <a:avLst/>
          </a:prstGeom>
          <a:noFill/>
          <a:ln/>
        </p:spPr>
        <p:txBody>
          <a:bodyPr wrap="square" lIns="0" tIns="0" rIns="0" bIns="0" rtlCol="0" anchor="t"/>
          <a:lstStyle/>
          <a:p>
            <a:pPr indent="0" marL="0">
              <a:buNone/>
            </a:pPr>
            <a:r>
              <a:rPr lang="en-US" sz="1600" dirty="0">
                <a:solidFill>
                  <a:srgbClr val="B8C4D6"/>
                </a:solidFill>
              </a:rPr>
              <a:t>Người dân</a:t>
            </a:r>
            <a:endParaRPr lang="en-US" sz="1600" dirty="0"/>
          </a:p>
        </p:txBody>
      </p:sp>
      <p:sp>
        <p:nvSpPr>
          <p:cNvPr id="10" name="Shape 7"/>
          <p:cNvSpPr/>
          <p:nvPr/>
        </p:nvSpPr>
        <p:spPr>
          <a:xfrm>
            <a:off x="3379394" y="2194560"/>
            <a:ext cx="2602154" cy="2194560"/>
          </a:xfrm>
          <a:prstGeom prst="roundRect">
            <a:avLst>
              <a:gd name="adj" fmla="val 5000"/>
            </a:avLst>
          </a:prstGeom>
          <a:solidFill>
            <a:srgbClr val="1B2A42"/>
          </a:solidFill>
          <a:ln w="12700">
            <a:solidFill>
              <a:srgbClr val="2B3D5C"/>
            </a:solidFill>
            <a:prstDash val="solid"/>
          </a:ln>
        </p:spPr>
      </p:sp>
      <p:sp>
        <p:nvSpPr>
          <p:cNvPr id="11" name="Text 8"/>
          <p:cNvSpPr txBox="1"/>
          <p:nvPr/>
        </p:nvSpPr>
        <p:spPr>
          <a:xfrm>
            <a:off x="3607994" y="2377440"/>
            <a:ext cx="2144954" cy="274320"/>
          </a:xfrm>
          <a:prstGeom prst="rect">
            <a:avLst/>
          </a:prstGeom>
          <a:noFill/>
          <a:ln/>
        </p:spPr>
        <p:txBody>
          <a:bodyPr wrap="square" lIns="0" tIns="0" rIns="0" bIns="0" rtlCol="0" anchor="ctr"/>
          <a:lstStyle/>
          <a:p>
            <a:pPr indent="0" marL="0">
              <a:buNone/>
            </a:pPr>
            <a:r>
              <a:rPr lang="en-US" sz="1400" b="1" dirty="0">
                <a:solidFill>
                  <a:srgbClr val="F28A5B"/>
                </a:solidFill>
              </a:rPr>
              <a:t>Luồng 2</a:t>
            </a:r>
            <a:endParaRPr lang="en-US" sz="1400" dirty="0"/>
          </a:p>
        </p:txBody>
      </p:sp>
      <p:sp>
        <p:nvSpPr>
          <p:cNvPr id="12" name="Text 9"/>
          <p:cNvSpPr txBox="1"/>
          <p:nvPr/>
        </p:nvSpPr>
        <p:spPr>
          <a:xfrm>
            <a:off x="3607994" y="2697480"/>
            <a:ext cx="2144954" cy="822960"/>
          </a:xfrm>
          <a:prstGeom prst="rect">
            <a:avLst/>
          </a:prstGeom>
          <a:noFill/>
          <a:ln/>
        </p:spPr>
        <p:txBody>
          <a:bodyPr wrap="square" lIns="0" tIns="0" rIns="0" bIns="0" rtlCol="0" anchor="t"/>
          <a:lstStyle/>
          <a:p>
            <a:pPr indent="0" marL="0">
              <a:buNone/>
            </a:pPr>
            <a:r>
              <a:rPr lang="en-US" sz="2200" b="1" dirty="0">
                <a:solidFill>
                  <a:srgbClr val="F4F6F9"/>
                </a:solidFill>
              </a:rPr>
              <a:t>Xử lý và điều phối</a:t>
            </a:r>
            <a:endParaRPr lang="en-US" sz="2200" dirty="0"/>
          </a:p>
        </p:txBody>
      </p:sp>
      <p:sp>
        <p:nvSpPr>
          <p:cNvPr id="13" name="Text 10"/>
          <p:cNvSpPr txBox="1"/>
          <p:nvPr/>
        </p:nvSpPr>
        <p:spPr>
          <a:xfrm>
            <a:off x="3607994" y="3566160"/>
            <a:ext cx="2144954" cy="685800"/>
          </a:xfrm>
          <a:prstGeom prst="rect">
            <a:avLst/>
          </a:prstGeom>
          <a:noFill/>
          <a:ln/>
        </p:spPr>
        <p:txBody>
          <a:bodyPr wrap="square" lIns="0" tIns="0" rIns="0" bIns="0" rtlCol="0" anchor="t"/>
          <a:lstStyle/>
          <a:p>
            <a:pPr indent="0" marL="0">
              <a:buNone/>
            </a:pPr>
            <a:r>
              <a:rPr lang="en-US" sz="1600" dirty="0">
                <a:solidFill>
                  <a:srgbClr val="B8C4D6"/>
                </a:solidFill>
              </a:rPr>
              <a:t>Điều phối viên</a:t>
            </a:r>
            <a:endParaRPr lang="en-US" sz="1600" dirty="0"/>
          </a:p>
        </p:txBody>
      </p:sp>
      <p:sp>
        <p:nvSpPr>
          <p:cNvPr id="14" name="Shape 11"/>
          <p:cNvSpPr/>
          <p:nvPr/>
        </p:nvSpPr>
        <p:spPr>
          <a:xfrm>
            <a:off x="6210148" y="2194560"/>
            <a:ext cx="2602154" cy="2194560"/>
          </a:xfrm>
          <a:prstGeom prst="roundRect">
            <a:avLst>
              <a:gd name="adj" fmla="val 5000"/>
            </a:avLst>
          </a:prstGeom>
          <a:solidFill>
            <a:srgbClr val="1B2A42"/>
          </a:solidFill>
          <a:ln w="12700">
            <a:solidFill>
              <a:srgbClr val="2B3D5C"/>
            </a:solidFill>
            <a:prstDash val="solid"/>
          </a:ln>
        </p:spPr>
      </p:sp>
      <p:sp>
        <p:nvSpPr>
          <p:cNvPr id="15" name="Text 12"/>
          <p:cNvSpPr txBox="1"/>
          <p:nvPr/>
        </p:nvSpPr>
        <p:spPr>
          <a:xfrm>
            <a:off x="6438748" y="2377440"/>
            <a:ext cx="2144954" cy="274320"/>
          </a:xfrm>
          <a:prstGeom prst="rect">
            <a:avLst/>
          </a:prstGeom>
          <a:noFill/>
          <a:ln/>
        </p:spPr>
        <p:txBody>
          <a:bodyPr wrap="square" lIns="0" tIns="0" rIns="0" bIns="0" rtlCol="0" anchor="ctr"/>
          <a:lstStyle/>
          <a:p>
            <a:pPr indent="0" marL="0">
              <a:buNone/>
            </a:pPr>
            <a:r>
              <a:rPr lang="en-US" sz="1400" b="1" dirty="0">
                <a:solidFill>
                  <a:srgbClr val="F28A5B"/>
                </a:solidFill>
              </a:rPr>
              <a:t>Luồng 3</a:t>
            </a:r>
            <a:endParaRPr lang="en-US" sz="1400" dirty="0"/>
          </a:p>
        </p:txBody>
      </p:sp>
      <p:sp>
        <p:nvSpPr>
          <p:cNvPr id="16" name="Text 13"/>
          <p:cNvSpPr txBox="1"/>
          <p:nvPr/>
        </p:nvSpPr>
        <p:spPr>
          <a:xfrm>
            <a:off x="6438748" y="2697480"/>
            <a:ext cx="2144954" cy="822960"/>
          </a:xfrm>
          <a:prstGeom prst="rect">
            <a:avLst/>
          </a:prstGeom>
          <a:noFill/>
          <a:ln/>
        </p:spPr>
        <p:txBody>
          <a:bodyPr wrap="square" lIns="0" tIns="0" rIns="0" bIns="0" rtlCol="0" anchor="t"/>
          <a:lstStyle/>
          <a:p>
            <a:pPr indent="0" marL="0">
              <a:buNone/>
            </a:pPr>
            <a:r>
              <a:rPr lang="en-US" sz="2200" b="1" dirty="0">
                <a:solidFill>
                  <a:srgbClr val="F4F6F9"/>
                </a:solidFill>
              </a:rPr>
              <a:t>Tiếp nhận nhiệm vụ</a:t>
            </a:r>
            <a:endParaRPr lang="en-US" sz="2200" dirty="0"/>
          </a:p>
        </p:txBody>
      </p:sp>
      <p:sp>
        <p:nvSpPr>
          <p:cNvPr id="17" name="Text 14"/>
          <p:cNvSpPr txBox="1"/>
          <p:nvPr/>
        </p:nvSpPr>
        <p:spPr>
          <a:xfrm>
            <a:off x="6438748" y="3566160"/>
            <a:ext cx="2144954" cy="685800"/>
          </a:xfrm>
          <a:prstGeom prst="rect">
            <a:avLst/>
          </a:prstGeom>
          <a:noFill/>
          <a:ln/>
        </p:spPr>
        <p:txBody>
          <a:bodyPr wrap="square" lIns="0" tIns="0" rIns="0" bIns="0" rtlCol="0" anchor="t"/>
          <a:lstStyle/>
          <a:p>
            <a:pPr indent="0" marL="0">
              <a:buNone/>
            </a:pPr>
            <a:r>
              <a:rPr lang="en-US" sz="1600" dirty="0">
                <a:solidFill>
                  <a:srgbClr val="B8C4D6"/>
                </a:solidFill>
              </a:rPr>
              <a:t>Đội cứu hộ, tình nguyện viên</a:t>
            </a:r>
            <a:endParaRPr lang="en-US" sz="1600" dirty="0"/>
          </a:p>
        </p:txBody>
      </p:sp>
      <p:sp>
        <p:nvSpPr>
          <p:cNvPr id="18" name="Shape 15"/>
          <p:cNvSpPr/>
          <p:nvPr/>
        </p:nvSpPr>
        <p:spPr>
          <a:xfrm>
            <a:off x="9040901" y="2194560"/>
            <a:ext cx="2602154" cy="2194560"/>
          </a:xfrm>
          <a:prstGeom prst="roundRect">
            <a:avLst>
              <a:gd name="adj" fmla="val 5000"/>
            </a:avLst>
          </a:prstGeom>
          <a:solidFill>
            <a:srgbClr val="1B2A42"/>
          </a:solidFill>
          <a:ln w="12700">
            <a:solidFill>
              <a:srgbClr val="2B3D5C"/>
            </a:solidFill>
            <a:prstDash val="dash"/>
          </a:ln>
        </p:spPr>
      </p:sp>
      <p:sp>
        <p:nvSpPr>
          <p:cNvPr id="19" name="Text 16"/>
          <p:cNvSpPr txBox="1"/>
          <p:nvPr/>
        </p:nvSpPr>
        <p:spPr>
          <a:xfrm>
            <a:off x="9269501" y="2377440"/>
            <a:ext cx="2144954" cy="274320"/>
          </a:xfrm>
          <a:prstGeom prst="rect">
            <a:avLst/>
          </a:prstGeom>
          <a:noFill/>
          <a:ln/>
        </p:spPr>
        <p:txBody>
          <a:bodyPr wrap="square" lIns="0" tIns="0" rIns="0" bIns="0" rtlCol="0" anchor="ctr"/>
          <a:lstStyle/>
          <a:p>
            <a:pPr indent="0" marL="0">
              <a:buNone/>
            </a:pPr>
            <a:r>
              <a:rPr lang="en-US" sz="1400" b="1" dirty="0">
                <a:solidFill>
                  <a:srgbClr val="F28A5B"/>
                </a:solidFill>
              </a:rPr>
              <a:t>Luồng 4 · Tùy chọn</a:t>
            </a:r>
            <a:endParaRPr lang="en-US" sz="1400" dirty="0"/>
          </a:p>
        </p:txBody>
      </p:sp>
      <p:sp>
        <p:nvSpPr>
          <p:cNvPr id="20" name="Text 17"/>
          <p:cNvSpPr txBox="1"/>
          <p:nvPr/>
        </p:nvSpPr>
        <p:spPr>
          <a:xfrm>
            <a:off x="9269501" y="2697480"/>
            <a:ext cx="2144954" cy="822960"/>
          </a:xfrm>
          <a:prstGeom prst="rect">
            <a:avLst/>
          </a:prstGeom>
          <a:noFill/>
          <a:ln/>
        </p:spPr>
        <p:txBody>
          <a:bodyPr wrap="square" lIns="0" tIns="0" rIns="0" bIns="0" rtlCol="0" anchor="t"/>
          <a:lstStyle/>
          <a:p>
            <a:pPr indent="0" marL="0">
              <a:buNone/>
            </a:pPr>
            <a:r>
              <a:rPr lang="en-US" sz="2200" b="1" dirty="0">
                <a:solidFill>
                  <a:srgbClr val="F4F6F9"/>
                </a:solidFill>
              </a:rPr>
              <a:t>Quyên góp cứu trợ</a:t>
            </a:r>
            <a:endParaRPr lang="en-US" sz="2200" dirty="0"/>
          </a:p>
        </p:txBody>
      </p:sp>
      <p:sp>
        <p:nvSpPr>
          <p:cNvPr id="21" name="Text 18"/>
          <p:cNvSpPr txBox="1"/>
          <p:nvPr/>
        </p:nvSpPr>
        <p:spPr>
          <a:xfrm>
            <a:off x="9269501" y="3566160"/>
            <a:ext cx="2144954" cy="685800"/>
          </a:xfrm>
          <a:prstGeom prst="rect">
            <a:avLst/>
          </a:prstGeom>
          <a:noFill/>
          <a:ln/>
        </p:spPr>
        <p:txBody>
          <a:bodyPr wrap="square" lIns="0" tIns="0" rIns="0" bIns="0" rtlCol="0" anchor="t"/>
          <a:lstStyle/>
          <a:p>
            <a:pPr indent="0" marL="0">
              <a:buNone/>
            </a:pPr>
            <a:r>
              <a:rPr lang="en-US" sz="1600" dirty="0">
                <a:solidFill>
                  <a:srgbClr val="B8C4D6"/>
                </a:solidFill>
              </a:rPr>
              <a:t>Người dân và nhân viên kho</a:t>
            </a:r>
            <a:endParaRPr lang="en-US" sz="1600" dirty="0"/>
          </a:p>
        </p:txBody>
      </p:sp>
      <p:sp>
        <p:nvSpPr>
          <p:cNvPr id="22" name="Text 19"/>
          <p:cNvSpPr txBox="1"/>
          <p:nvPr/>
        </p:nvSpPr>
        <p:spPr>
          <a:xfrm>
            <a:off x="548640" y="5029200"/>
            <a:ext cx="11094415" cy="731520"/>
          </a:xfrm>
          <a:prstGeom prst="rect">
            <a:avLst/>
          </a:prstGeom>
          <a:noFill/>
          <a:ln/>
        </p:spPr>
        <p:txBody>
          <a:bodyPr wrap="square" lIns="0" tIns="0" rIns="0" bIns="0" rtlCol="0" anchor="ctr"/>
          <a:lstStyle/>
          <a:p>
            <a:pPr indent="0" marL="0">
              <a:buNone/>
            </a:pPr>
            <a:r>
              <a:rPr lang="en-US" sz="1600" dirty="0">
                <a:solidFill>
                  <a:srgbClr val="B8C4D6"/>
                </a:solidFill>
              </a:rPr>
              <a:t>Quản lý vận hành phụ trách điểm cứu trợ, kho và phương tiện. Quản trị viên quản lý tài khoản, phân quyền và báo cáo.</a:t>
            </a:r>
            <a:endParaRPr lang="en-US" sz="1600" dirty="0"/>
          </a:p>
        </p:txBody>
      </p:sp>
      <p:sp>
        <p:nvSpPr>
          <p:cNvPr id="23" name="Text 20"/>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9AA8BD"/>
                </a:solidFill>
              </a:rPr>
              <a:t>Reliva · Tổng quan</a:t>
            </a:r>
            <a:endParaRPr lang="en-US" sz="1200" dirty="0"/>
          </a:p>
        </p:txBody>
      </p:sp>
      <p:sp>
        <p:nvSpPr>
          <p:cNvPr id="24" name="Text 21"/>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9AA8BD"/>
                </a:solidFill>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LUỒNG 1 · NGƯỜI DÂN</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Gửi tín hiệu SOS</a:t>
            </a:r>
            <a:endParaRPr lang="en-US" sz="3200" dirty="0"/>
          </a:p>
        </p:txBody>
      </p:sp>
      <p:sp>
        <p:nvSpPr>
          <p:cNvPr id="6" name="Shape 3"/>
          <p:cNvSpPr/>
          <p:nvPr/>
        </p:nvSpPr>
        <p:spPr>
          <a:xfrm>
            <a:off x="548640" y="1554480"/>
            <a:ext cx="11094415" cy="777240"/>
          </a:xfrm>
          <a:prstGeom prst="roundRect">
            <a:avLst>
              <a:gd name="adj" fmla="val 11765"/>
            </a:avLst>
          </a:prstGeom>
          <a:solidFill>
            <a:srgbClr val="FFFFFF"/>
          </a:solidFill>
          <a:ln w="12700">
            <a:solidFill>
              <a:srgbClr val="D9DEE6"/>
            </a:solidFill>
            <a:prstDash val="solid"/>
          </a:ln>
        </p:spPr>
      </p:sp>
      <p:sp>
        <p:nvSpPr>
          <p:cNvPr id="7" name="Shape 4"/>
          <p:cNvSpPr/>
          <p:nvPr/>
        </p:nvSpPr>
        <p:spPr>
          <a:xfrm>
            <a:off x="777240" y="1714500"/>
            <a:ext cx="457200" cy="457200"/>
          </a:xfrm>
          <a:prstGeom prst="ellipse">
            <a:avLst/>
          </a:prstGeom>
          <a:solidFill>
            <a:srgbClr val="C2410C"/>
          </a:solidFill>
          <a:ln w="12700">
            <a:solidFill>
              <a:srgbClr val="C2410C"/>
            </a:solidFill>
            <a:prstDash val="solid"/>
          </a:ln>
        </p:spPr>
      </p:sp>
      <p:sp>
        <p:nvSpPr>
          <p:cNvPr id="8" name="Text 5"/>
          <p:cNvSpPr txBox="1"/>
          <p:nvPr/>
        </p:nvSpPr>
        <p:spPr>
          <a:xfrm>
            <a:off x="777240" y="17145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9" name="Text 6"/>
          <p:cNvSpPr txBox="1"/>
          <p:nvPr/>
        </p:nvSpPr>
        <p:spPr>
          <a:xfrm>
            <a:off x="1463040" y="1554480"/>
            <a:ext cx="3017520" cy="777240"/>
          </a:xfrm>
          <a:prstGeom prst="rect">
            <a:avLst/>
          </a:prstGeom>
          <a:noFill/>
          <a:ln/>
        </p:spPr>
        <p:txBody>
          <a:bodyPr wrap="square" lIns="0" tIns="0" rIns="0" bIns="0" rtlCol="0" anchor="ctr"/>
          <a:lstStyle/>
          <a:p>
            <a:pPr indent="0" marL="0">
              <a:buNone/>
            </a:pPr>
            <a:r>
              <a:rPr lang="en-US" sz="1800" b="1" dirty="0">
                <a:solidFill>
                  <a:srgbClr val="14213D"/>
                </a:solidFill>
              </a:rPr>
              <a:t>Chọn kiểu báo</a:t>
            </a:r>
            <a:endParaRPr lang="en-US" sz="1800" dirty="0"/>
          </a:p>
        </p:txBody>
      </p:sp>
      <p:sp>
        <p:nvSpPr>
          <p:cNvPr id="10" name="Text 7"/>
          <p:cNvSpPr txBox="1"/>
          <p:nvPr/>
        </p:nvSpPr>
        <p:spPr>
          <a:xfrm>
            <a:off x="4663440" y="1554480"/>
            <a:ext cx="6705295" cy="777240"/>
          </a:xfrm>
          <a:prstGeom prst="rect">
            <a:avLst/>
          </a:prstGeom>
          <a:noFill/>
          <a:ln/>
        </p:spPr>
        <p:txBody>
          <a:bodyPr wrap="square" lIns="0" tIns="0" rIns="0" bIns="0" rtlCol="0" anchor="ctr"/>
          <a:lstStyle/>
          <a:p>
            <a:pPr indent="0" marL="0">
              <a:buNone/>
            </a:pPr>
            <a:r>
              <a:rPr lang="en-US" sz="1500" dirty="0">
                <a:solidFill>
                  <a:srgbClr val="3B4659"/>
                </a:solidFill>
              </a:rPr>
              <a:t>Tự báo cho bản thân (khách hoặc đã đăng nhập), hoặc báo hộ người thân (cần đăng nhập).</a:t>
            </a:r>
            <a:endParaRPr lang="en-US" sz="1500" dirty="0"/>
          </a:p>
        </p:txBody>
      </p:sp>
      <p:sp>
        <p:nvSpPr>
          <p:cNvPr id="11" name="Shape 8"/>
          <p:cNvSpPr/>
          <p:nvPr/>
        </p:nvSpPr>
        <p:spPr>
          <a:xfrm>
            <a:off x="548640" y="2468880"/>
            <a:ext cx="11094415" cy="777240"/>
          </a:xfrm>
          <a:prstGeom prst="roundRect">
            <a:avLst>
              <a:gd name="adj" fmla="val 11765"/>
            </a:avLst>
          </a:prstGeom>
          <a:solidFill>
            <a:srgbClr val="FFFFFF"/>
          </a:solidFill>
          <a:ln w="12700">
            <a:solidFill>
              <a:srgbClr val="D9DEE6"/>
            </a:solidFill>
            <a:prstDash val="solid"/>
          </a:ln>
        </p:spPr>
      </p:sp>
      <p:sp>
        <p:nvSpPr>
          <p:cNvPr id="12" name="Shape 9"/>
          <p:cNvSpPr/>
          <p:nvPr/>
        </p:nvSpPr>
        <p:spPr>
          <a:xfrm>
            <a:off x="777240" y="2628900"/>
            <a:ext cx="457200" cy="457200"/>
          </a:xfrm>
          <a:prstGeom prst="ellipse">
            <a:avLst/>
          </a:prstGeom>
          <a:solidFill>
            <a:srgbClr val="C2410C"/>
          </a:solidFill>
          <a:ln w="12700">
            <a:solidFill>
              <a:srgbClr val="C2410C"/>
            </a:solidFill>
            <a:prstDash val="solid"/>
          </a:ln>
        </p:spPr>
      </p:sp>
      <p:sp>
        <p:nvSpPr>
          <p:cNvPr id="13" name="Text 10"/>
          <p:cNvSpPr txBox="1"/>
          <p:nvPr/>
        </p:nvSpPr>
        <p:spPr>
          <a:xfrm>
            <a:off x="777240" y="26289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4" name="Text 11"/>
          <p:cNvSpPr txBox="1"/>
          <p:nvPr/>
        </p:nvSpPr>
        <p:spPr>
          <a:xfrm>
            <a:off x="1463040" y="2468880"/>
            <a:ext cx="3017520" cy="777240"/>
          </a:xfrm>
          <a:prstGeom prst="rect">
            <a:avLst/>
          </a:prstGeom>
          <a:noFill/>
          <a:ln/>
        </p:spPr>
        <p:txBody>
          <a:bodyPr wrap="square" lIns="0" tIns="0" rIns="0" bIns="0" rtlCol="0" anchor="ctr"/>
          <a:lstStyle/>
          <a:p>
            <a:pPr indent="0" marL="0">
              <a:buNone/>
            </a:pPr>
            <a:r>
              <a:rPr lang="en-US" sz="1800" b="1" dirty="0">
                <a:solidFill>
                  <a:srgbClr val="14213D"/>
                </a:solidFill>
              </a:rPr>
              <a:t>Xác định vị trí</a:t>
            </a:r>
            <a:endParaRPr lang="en-US" sz="1800" dirty="0"/>
          </a:p>
        </p:txBody>
      </p:sp>
      <p:sp>
        <p:nvSpPr>
          <p:cNvPr id="15" name="Text 12"/>
          <p:cNvSpPr txBox="1"/>
          <p:nvPr/>
        </p:nvSpPr>
        <p:spPr>
          <a:xfrm>
            <a:off x="4663440" y="2468880"/>
            <a:ext cx="6705295" cy="777240"/>
          </a:xfrm>
          <a:prstGeom prst="rect">
            <a:avLst/>
          </a:prstGeom>
          <a:noFill/>
          <a:ln/>
        </p:spPr>
        <p:txBody>
          <a:bodyPr wrap="square" lIns="0" tIns="0" rIns="0" bIns="0" rtlCol="0" anchor="ctr"/>
          <a:lstStyle/>
          <a:p>
            <a:pPr indent="0" marL="0">
              <a:buNone/>
            </a:pPr>
            <a:r>
              <a:rPr lang="en-US" sz="1500" dirty="0">
                <a:solidFill>
                  <a:srgbClr val="3B4659"/>
                </a:solidFill>
              </a:rPr>
              <a:t>GPS của thiết bị hoặc ghim thủ công. Vị trí là nơi người gặp nạn, không phải nơi người báo đang đứng.</a:t>
            </a:r>
            <a:endParaRPr lang="en-US" sz="1500" dirty="0"/>
          </a:p>
        </p:txBody>
      </p:sp>
      <p:sp>
        <p:nvSpPr>
          <p:cNvPr id="16" name="Shape 13"/>
          <p:cNvSpPr/>
          <p:nvPr/>
        </p:nvSpPr>
        <p:spPr>
          <a:xfrm>
            <a:off x="548640" y="3383280"/>
            <a:ext cx="11094415" cy="777240"/>
          </a:xfrm>
          <a:prstGeom prst="roundRect">
            <a:avLst>
              <a:gd name="adj" fmla="val 11765"/>
            </a:avLst>
          </a:prstGeom>
          <a:solidFill>
            <a:srgbClr val="FFFFFF"/>
          </a:solidFill>
          <a:ln w="12700">
            <a:solidFill>
              <a:srgbClr val="D9DEE6"/>
            </a:solidFill>
            <a:prstDash val="solid"/>
          </a:ln>
        </p:spPr>
      </p:sp>
      <p:sp>
        <p:nvSpPr>
          <p:cNvPr id="17" name="Shape 14"/>
          <p:cNvSpPr/>
          <p:nvPr/>
        </p:nvSpPr>
        <p:spPr>
          <a:xfrm>
            <a:off x="777240" y="3543300"/>
            <a:ext cx="457200" cy="457200"/>
          </a:xfrm>
          <a:prstGeom prst="ellipse">
            <a:avLst/>
          </a:prstGeom>
          <a:solidFill>
            <a:srgbClr val="C2410C"/>
          </a:solidFill>
          <a:ln w="12700">
            <a:solidFill>
              <a:srgbClr val="C2410C"/>
            </a:solidFill>
            <a:prstDash val="solid"/>
          </a:ln>
        </p:spPr>
      </p:sp>
      <p:sp>
        <p:nvSpPr>
          <p:cNvPr id="18" name="Text 15"/>
          <p:cNvSpPr txBox="1"/>
          <p:nvPr/>
        </p:nvSpPr>
        <p:spPr>
          <a:xfrm>
            <a:off x="777240" y="35433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9" name="Text 16"/>
          <p:cNvSpPr txBox="1"/>
          <p:nvPr/>
        </p:nvSpPr>
        <p:spPr>
          <a:xfrm>
            <a:off x="1463040" y="3383280"/>
            <a:ext cx="3017520" cy="777240"/>
          </a:xfrm>
          <a:prstGeom prst="rect">
            <a:avLst/>
          </a:prstGeom>
          <a:noFill/>
          <a:ln/>
        </p:spPr>
        <p:txBody>
          <a:bodyPr wrap="square" lIns="0" tIns="0" rIns="0" bIns="0" rtlCol="0" anchor="ctr"/>
          <a:lstStyle/>
          <a:p>
            <a:pPr indent="0" marL="0">
              <a:buNone/>
            </a:pPr>
            <a:r>
              <a:rPr lang="en-US" sz="1800" b="1" dirty="0">
                <a:solidFill>
                  <a:srgbClr val="14213D"/>
                </a:solidFill>
              </a:rPr>
              <a:t>Mô tả tình huống</a:t>
            </a:r>
            <a:endParaRPr lang="en-US" sz="1800" dirty="0"/>
          </a:p>
        </p:txBody>
      </p:sp>
      <p:sp>
        <p:nvSpPr>
          <p:cNvPr id="20" name="Text 17"/>
          <p:cNvSpPr txBox="1"/>
          <p:nvPr/>
        </p:nvSpPr>
        <p:spPr>
          <a:xfrm>
            <a:off x="4663440" y="3383280"/>
            <a:ext cx="6705295" cy="777240"/>
          </a:xfrm>
          <a:prstGeom prst="rect">
            <a:avLst/>
          </a:prstGeom>
          <a:noFill/>
          <a:ln/>
        </p:spPr>
        <p:txBody>
          <a:bodyPr wrap="square" lIns="0" tIns="0" rIns="0" bIns="0" rtlCol="0" anchor="ctr"/>
          <a:lstStyle/>
          <a:p>
            <a:pPr indent="0" marL="0">
              <a:buNone/>
            </a:pPr>
            <a:r>
              <a:rPr lang="en-US" sz="1500" dirty="0">
                <a:solidFill>
                  <a:srgbClr val="3B4659"/>
                </a:solidFill>
              </a:rPr>
              <a:t>Loại sự cố, số người cần hỗ trợ, ghi chú, ảnh hoặc video nếu có. Điều chưa biết có thể để trống.</a:t>
            </a:r>
            <a:endParaRPr lang="en-US" sz="1500" dirty="0"/>
          </a:p>
        </p:txBody>
      </p:sp>
      <p:sp>
        <p:nvSpPr>
          <p:cNvPr id="21" name="Shape 18"/>
          <p:cNvSpPr/>
          <p:nvPr/>
        </p:nvSpPr>
        <p:spPr>
          <a:xfrm>
            <a:off x="548640" y="4297680"/>
            <a:ext cx="11094415" cy="777240"/>
          </a:xfrm>
          <a:prstGeom prst="roundRect">
            <a:avLst>
              <a:gd name="adj" fmla="val 11765"/>
            </a:avLst>
          </a:prstGeom>
          <a:solidFill>
            <a:srgbClr val="FFFFFF"/>
          </a:solidFill>
          <a:ln w="12700">
            <a:solidFill>
              <a:srgbClr val="D9DEE6"/>
            </a:solidFill>
            <a:prstDash val="solid"/>
          </a:ln>
        </p:spPr>
      </p:sp>
      <p:sp>
        <p:nvSpPr>
          <p:cNvPr id="22" name="Shape 19"/>
          <p:cNvSpPr/>
          <p:nvPr/>
        </p:nvSpPr>
        <p:spPr>
          <a:xfrm>
            <a:off x="777240" y="4457700"/>
            <a:ext cx="457200" cy="457200"/>
          </a:xfrm>
          <a:prstGeom prst="ellipse">
            <a:avLst/>
          </a:prstGeom>
          <a:solidFill>
            <a:srgbClr val="C2410C"/>
          </a:solidFill>
          <a:ln w="12700">
            <a:solidFill>
              <a:srgbClr val="C2410C"/>
            </a:solidFill>
            <a:prstDash val="solid"/>
          </a:ln>
        </p:spPr>
      </p:sp>
      <p:sp>
        <p:nvSpPr>
          <p:cNvPr id="23" name="Text 20"/>
          <p:cNvSpPr txBox="1"/>
          <p:nvPr/>
        </p:nvSpPr>
        <p:spPr>
          <a:xfrm>
            <a:off x="777240" y="44577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4" name="Text 21"/>
          <p:cNvSpPr txBox="1"/>
          <p:nvPr/>
        </p:nvSpPr>
        <p:spPr>
          <a:xfrm>
            <a:off x="1463040" y="4297680"/>
            <a:ext cx="3017520" cy="777240"/>
          </a:xfrm>
          <a:prstGeom prst="rect">
            <a:avLst/>
          </a:prstGeom>
          <a:noFill/>
          <a:ln/>
        </p:spPr>
        <p:txBody>
          <a:bodyPr wrap="square" lIns="0" tIns="0" rIns="0" bIns="0" rtlCol="0" anchor="ctr"/>
          <a:lstStyle/>
          <a:p>
            <a:pPr indent="0" marL="0">
              <a:buNone/>
            </a:pPr>
            <a:r>
              <a:rPr lang="en-US" sz="1800" b="1" dirty="0">
                <a:solidFill>
                  <a:srgbClr val="14213D"/>
                </a:solidFill>
              </a:rPr>
              <a:t>Gắn cờ nguy hiểm</a:t>
            </a:r>
            <a:endParaRPr lang="en-US" sz="1800" dirty="0"/>
          </a:p>
        </p:txBody>
      </p:sp>
      <p:sp>
        <p:nvSpPr>
          <p:cNvPr id="25" name="Text 22"/>
          <p:cNvSpPr txBox="1"/>
          <p:nvPr/>
        </p:nvSpPr>
        <p:spPr>
          <a:xfrm>
            <a:off x="4663440" y="4297680"/>
            <a:ext cx="6705295" cy="777240"/>
          </a:xfrm>
          <a:prstGeom prst="rect">
            <a:avLst/>
          </a:prstGeom>
          <a:noFill/>
          <a:ln/>
        </p:spPr>
        <p:txBody>
          <a:bodyPr wrap="square" lIns="0" tIns="0" rIns="0" bIns="0" rtlCol="0" anchor="ctr"/>
          <a:lstStyle/>
          <a:p>
            <a:pPr indent="0" marL="0">
              <a:buNone/>
            </a:pPr>
            <a:r>
              <a:rPr lang="en-US" sz="1500" dirty="0">
                <a:solidFill>
                  <a:srgbClr val="3B4659"/>
                </a:solidFill>
              </a:rPr>
              <a:t>Hộp chọn “nguy hiểm đến tính mạng” giúp điều phối viên thấy sớm; cờ này không tự đổi mức ưu tiên.</a:t>
            </a:r>
            <a:endParaRPr lang="en-US" sz="1500" dirty="0"/>
          </a:p>
        </p:txBody>
      </p:sp>
      <p:sp>
        <p:nvSpPr>
          <p:cNvPr id="26" name="Shape 23"/>
          <p:cNvSpPr/>
          <p:nvPr/>
        </p:nvSpPr>
        <p:spPr>
          <a:xfrm>
            <a:off x="548640" y="5212080"/>
            <a:ext cx="11094415" cy="777240"/>
          </a:xfrm>
          <a:prstGeom prst="roundRect">
            <a:avLst>
              <a:gd name="adj" fmla="val 11765"/>
            </a:avLst>
          </a:prstGeom>
          <a:solidFill>
            <a:srgbClr val="FFFFFF"/>
          </a:solidFill>
          <a:ln w="12700">
            <a:solidFill>
              <a:srgbClr val="D9DEE6"/>
            </a:solidFill>
            <a:prstDash val="solid"/>
          </a:ln>
        </p:spPr>
      </p:sp>
      <p:sp>
        <p:nvSpPr>
          <p:cNvPr id="27" name="Shape 24"/>
          <p:cNvSpPr/>
          <p:nvPr/>
        </p:nvSpPr>
        <p:spPr>
          <a:xfrm>
            <a:off x="777240" y="5372100"/>
            <a:ext cx="457200" cy="457200"/>
          </a:xfrm>
          <a:prstGeom prst="ellipse">
            <a:avLst/>
          </a:prstGeom>
          <a:solidFill>
            <a:srgbClr val="C2410C"/>
          </a:solidFill>
          <a:ln w="12700">
            <a:solidFill>
              <a:srgbClr val="C2410C"/>
            </a:solidFill>
            <a:prstDash val="solid"/>
          </a:ln>
        </p:spPr>
      </p:sp>
      <p:sp>
        <p:nvSpPr>
          <p:cNvPr id="28" name="Text 25"/>
          <p:cNvSpPr txBox="1"/>
          <p:nvPr/>
        </p:nvSpPr>
        <p:spPr>
          <a:xfrm>
            <a:off x="777240" y="53721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9" name="Text 26"/>
          <p:cNvSpPr txBox="1"/>
          <p:nvPr/>
        </p:nvSpPr>
        <p:spPr>
          <a:xfrm>
            <a:off x="1463040" y="5212080"/>
            <a:ext cx="3017520" cy="777240"/>
          </a:xfrm>
          <a:prstGeom prst="rect">
            <a:avLst/>
          </a:prstGeom>
          <a:noFill/>
          <a:ln/>
        </p:spPr>
        <p:txBody>
          <a:bodyPr wrap="square" lIns="0" tIns="0" rIns="0" bIns="0" rtlCol="0" anchor="ctr"/>
          <a:lstStyle/>
          <a:p>
            <a:pPr indent="0" marL="0">
              <a:buNone/>
            </a:pPr>
            <a:r>
              <a:rPr lang="en-US" sz="1800" b="1" dirty="0">
                <a:solidFill>
                  <a:srgbClr val="14213D"/>
                </a:solidFill>
              </a:rPr>
              <a:t>Gửi và nhận xác nhận</a:t>
            </a:r>
            <a:endParaRPr lang="en-US" sz="1800" dirty="0"/>
          </a:p>
        </p:txBody>
      </p:sp>
      <p:sp>
        <p:nvSpPr>
          <p:cNvPr id="30" name="Text 27"/>
          <p:cNvSpPr txBox="1"/>
          <p:nvPr/>
        </p:nvSpPr>
        <p:spPr>
          <a:xfrm>
            <a:off x="4663440" y="5212080"/>
            <a:ext cx="6705295" cy="777240"/>
          </a:xfrm>
          <a:prstGeom prst="rect">
            <a:avLst/>
          </a:prstGeom>
          <a:noFill/>
          <a:ln/>
        </p:spPr>
        <p:txBody>
          <a:bodyPr wrap="square" lIns="0" tIns="0" rIns="0" bIns="0" rtlCol="0" anchor="ctr"/>
          <a:lstStyle/>
          <a:p>
            <a:pPr indent="0" marL="0">
              <a:buNone/>
            </a:pPr>
            <a:r>
              <a:rPr lang="en-US" sz="1500" dirty="0">
                <a:solidFill>
                  <a:srgbClr val="3B4659"/>
                </a:solidFill>
              </a:rPr>
              <a:t>Chỉ hiện “Đã tiếp nhận” sau khi máy chủ phản hồi thành công, kèm mã theo dõi riêng tư.</a:t>
            </a:r>
            <a:endParaRPr lang="en-US" sz="1500" dirty="0"/>
          </a:p>
        </p:txBody>
      </p:sp>
      <p:sp>
        <p:nvSpPr>
          <p:cNvPr id="31" name="Text 28"/>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Reliva · Luồng 1 · Gửi SOS</a:t>
            </a:r>
            <a:endParaRPr lang="en-US" sz="1200" dirty="0"/>
          </a:p>
        </p:txBody>
      </p:sp>
      <p:sp>
        <p:nvSpPr>
          <p:cNvPr id="32" name="Text 29"/>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F28A5B"/>
                </a:solidFill>
              </a:rPr>
              <a:t>LUỒNG 1 · NGUYÊN TẮC THIẾT KẾ</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F4F6F9"/>
                </a:solidFill>
              </a:rPr>
              <a:t>Tín hiệu SOS không được mất, không bị hiểu sai</a:t>
            </a:r>
            <a:endParaRPr lang="en-US" sz="3200" dirty="0"/>
          </a:p>
        </p:txBody>
      </p:sp>
      <p:sp>
        <p:nvSpPr>
          <p:cNvPr id="6" name="Shape 3"/>
          <p:cNvSpPr/>
          <p:nvPr/>
        </p:nvSpPr>
        <p:spPr>
          <a:xfrm>
            <a:off x="548640" y="2011680"/>
            <a:ext cx="3545738" cy="2834640"/>
          </a:xfrm>
          <a:prstGeom prst="roundRect">
            <a:avLst>
              <a:gd name="adj" fmla="val 3871"/>
            </a:avLst>
          </a:prstGeom>
          <a:solidFill>
            <a:srgbClr val="1B2A42"/>
          </a:solidFill>
          <a:ln w="12700">
            <a:solidFill>
              <a:srgbClr val="2B3D5C"/>
            </a:solidFill>
            <a:prstDash val="solid"/>
          </a:ln>
        </p:spPr>
      </p:sp>
      <p:sp>
        <p:nvSpPr>
          <p:cNvPr id="7" name="Text 4"/>
          <p:cNvSpPr txBox="1"/>
          <p:nvPr/>
        </p:nvSpPr>
        <p:spPr>
          <a:xfrm>
            <a:off x="777240" y="2194560"/>
            <a:ext cx="3088538" cy="548640"/>
          </a:xfrm>
          <a:prstGeom prst="rect">
            <a:avLst/>
          </a:prstGeom>
          <a:noFill/>
          <a:ln/>
        </p:spPr>
        <p:txBody>
          <a:bodyPr wrap="square" lIns="0" tIns="0" rIns="0" bIns="0" rtlCol="0" anchor="t"/>
          <a:lstStyle/>
          <a:p>
            <a:pPr indent="0" marL="0">
              <a:buNone/>
            </a:pPr>
            <a:r>
              <a:rPr lang="en-US" sz="2200" b="1" dirty="0">
                <a:solidFill>
                  <a:srgbClr val="F4F6F9"/>
                </a:solidFill>
              </a:rPr>
              <a:t>Báo hộ tách bạch</a:t>
            </a:r>
            <a:endParaRPr lang="en-US" sz="2200" dirty="0"/>
          </a:p>
        </p:txBody>
      </p:sp>
      <p:sp>
        <p:nvSpPr>
          <p:cNvPr id="8" name="Text 5"/>
          <p:cNvSpPr txBox="1"/>
          <p:nvPr/>
        </p:nvSpPr>
        <p:spPr>
          <a:xfrm>
            <a:off x="777240" y="2788920"/>
            <a:ext cx="3088538" cy="1920240"/>
          </a:xfrm>
          <a:prstGeom prst="rect">
            <a:avLst/>
          </a:prstGeom>
          <a:noFill/>
          <a:ln/>
        </p:spPr>
        <p:txBody>
          <a:bodyPr wrap="square" lIns="0" tIns="0" rIns="0" bIns="0" rtlCol="0" anchor="t"/>
          <a:lstStyle/>
          <a:p>
            <a:pPr indent="0" marL="0">
              <a:buNone/>
            </a:pPr>
            <a:r>
              <a:rPr lang="en-US" sz="1600" dirty="0">
                <a:solidFill>
                  <a:srgbClr val="B8C4D6"/>
                </a:solidFill>
              </a:rPr>
              <a:t>Người báo và hộ dân được lưu riêng: số điện thoại, quan hệ, vị trí, số người. Nạn nhân không cần tài khoản hay điện thoại.</a:t>
            </a:r>
            <a:endParaRPr lang="en-US" sz="1600" dirty="0"/>
          </a:p>
        </p:txBody>
      </p:sp>
      <p:sp>
        <p:nvSpPr>
          <p:cNvPr id="9" name="Shape 6"/>
          <p:cNvSpPr/>
          <p:nvPr/>
        </p:nvSpPr>
        <p:spPr>
          <a:xfrm>
            <a:off x="4322978" y="2011680"/>
            <a:ext cx="3545738" cy="2834640"/>
          </a:xfrm>
          <a:prstGeom prst="roundRect">
            <a:avLst>
              <a:gd name="adj" fmla="val 3871"/>
            </a:avLst>
          </a:prstGeom>
          <a:solidFill>
            <a:srgbClr val="1B2A42"/>
          </a:solidFill>
          <a:ln w="12700">
            <a:solidFill>
              <a:srgbClr val="2B3D5C"/>
            </a:solidFill>
            <a:prstDash val="solid"/>
          </a:ln>
        </p:spPr>
      </p:sp>
      <p:sp>
        <p:nvSpPr>
          <p:cNvPr id="10" name="Text 7"/>
          <p:cNvSpPr txBox="1"/>
          <p:nvPr/>
        </p:nvSpPr>
        <p:spPr>
          <a:xfrm>
            <a:off x="4551578" y="2194560"/>
            <a:ext cx="3088538" cy="548640"/>
          </a:xfrm>
          <a:prstGeom prst="rect">
            <a:avLst/>
          </a:prstGeom>
          <a:noFill/>
          <a:ln/>
        </p:spPr>
        <p:txBody>
          <a:bodyPr wrap="square" lIns="0" tIns="0" rIns="0" bIns="0" rtlCol="0" anchor="t"/>
          <a:lstStyle/>
          <a:p>
            <a:pPr indent="0" marL="0">
              <a:buNone/>
            </a:pPr>
            <a:r>
              <a:rPr lang="en-US" sz="2200" b="1" dirty="0">
                <a:solidFill>
                  <a:srgbClr val="F4F6F9"/>
                </a:solidFill>
              </a:rPr>
              <a:t>Chịu được mạng yếu</a:t>
            </a:r>
            <a:endParaRPr lang="en-US" sz="2200" dirty="0"/>
          </a:p>
        </p:txBody>
      </p:sp>
      <p:sp>
        <p:nvSpPr>
          <p:cNvPr id="11" name="Text 8"/>
          <p:cNvSpPr txBox="1"/>
          <p:nvPr/>
        </p:nvSpPr>
        <p:spPr>
          <a:xfrm>
            <a:off x="4551578" y="2788920"/>
            <a:ext cx="3088538" cy="1920240"/>
          </a:xfrm>
          <a:prstGeom prst="rect">
            <a:avLst/>
          </a:prstGeom>
          <a:noFill/>
          <a:ln/>
        </p:spPr>
        <p:txBody>
          <a:bodyPr wrap="square" lIns="0" tIns="0" rIns="0" bIns="0" rtlCol="0" anchor="t"/>
          <a:lstStyle/>
          <a:p>
            <a:pPr indent="0" marL="0">
              <a:buNone/>
            </a:pPr>
            <a:r>
              <a:rPr lang="en-US" sz="1600" dirty="0">
                <a:solidFill>
                  <a:srgbClr val="B8C4D6"/>
                </a:solidFill>
              </a:rPr>
              <a:t>Bản nháp trên thiết bị ở trạng thái chờ đến khi nhận xác nhận. Gửi lại an toàn nhờ khóa idempotency, không tạo yêu cầu trùng.</a:t>
            </a:r>
            <a:endParaRPr lang="en-US" sz="1600" dirty="0"/>
          </a:p>
        </p:txBody>
      </p:sp>
      <p:sp>
        <p:nvSpPr>
          <p:cNvPr id="12" name="Shape 9"/>
          <p:cNvSpPr/>
          <p:nvPr/>
        </p:nvSpPr>
        <p:spPr>
          <a:xfrm>
            <a:off x="8097317" y="2011680"/>
            <a:ext cx="3545738" cy="2834640"/>
          </a:xfrm>
          <a:prstGeom prst="roundRect">
            <a:avLst>
              <a:gd name="adj" fmla="val 3871"/>
            </a:avLst>
          </a:prstGeom>
          <a:solidFill>
            <a:srgbClr val="1B2A42"/>
          </a:solidFill>
          <a:ln w="12700">
            <a:solidFill>
              <a:srgbClr val="2B3D5C"/>
            </a:solidFill>
            <a:prstDash val="solid"/>
          </a:ln>
        </p:spPr>
      </p:sp>
      <p:sp>
        <p:nvSpPr>
          <p:cNvPr id="13" name="Text 10"/>
          <p:cNvSpPr txBox="1"/>
          <p:nvPr/>
        </p:nvSpPr>
        <p:spPr>
          <a:xfrm>
            <a:off x="8325917" y="2194560"/>
            <a:ext cx="3088538" cy="548640"/>
          </a:xfrm>
          <a:prstGeom prst="rect">
            <a:avLst/>
          </a:prstGeom>
          <a:noFill/>
          <a:ln/>
        </p:spPr>
        <p:txBody>
          <a:bodyPr wrap="square" lIns="0" tIns="0" rIns="0" bIns="0" rtlCol="0" anchor="t"/>
          <a:lstStyle/>
          <a:p>
            <a:pPr indent="0" marL="0">
              <a:buNone/>
            </a:pPr>
            <a:r>
              <a:rPr lang="en-US" sz="2200" b="1" dirty="0">
                <a:solidFill>
                  <a:srgbClr val="F4F6F9"/>
                </a:solidFill>
              </a:rPr>
              <a:t>Theo dõi riêng tư</a:t>
            </a:r>
            <a:endParaRPr lang="en-US" sz="2200" dirty="0"/>
          </a:p>
        </p:txBody>
      </p:sp>
      <p:sp>
        <p:nvSpPr>
          <p:cNvPr id="14" name="Text 11"/>
          <p:cNvSpPr txBox="1"/>
          <p:nvPr/>
        </p:nvSpPr>
        <p:spPr>
          <a:xfrm>
            <a:off x="8325917" y="2788920"/>
            <a:ext cx="3088538" cy="1920240"/>
          </a:xfrm>
          <a:prstGeom prst="rect">
            <a:avLst/>
          </a:prstGeom>
          <a:noFill/>
          <a:ln/>
        </p:spPr>
        <p:txBody>
          <a:bodyPr wrap="square" lIns="0" tIns="0" rIns="0" bIns="0" rtlCol="0" anchor="t"/>
          <a:lstStyle/>
          <a:p>
            <a:pPr indent="0" marL="0">
              <a:buNone/>
            </a:pPr>
            <a:r>
              <a:rPr lang="en-US" sz="1600" dirty="0">
                <a:solidFill>
                  <a:srgbClr val="B8C4D6"/>
                </a:solidFill>
              </a:rPr>
              <a:t>Mã theo dõi cho phép xem tiến độ và bổ sung tình hình. Thông tin liên hệ chỉ điều phối viên trong phạm vi được xem.</a:t>
            </a:r>
            <a:endParaRPr lang="en-US" sz="1600" dirty="0"/>
          </a:p>
        </p:txBody>
      </p:sp>
      <p:sp>
        <p:nvSpPr>
          <p:cNvPr id="15" name="Shape 12"/>
          <p:cNvSpPr/>
          <p:nvPr/>
        </p:nvSpPr>
        <p:spPr>
          <a:xfrm>
            <a:off x="548640" y="5303520"/>
            <a:ext cx="11094415" cy="731520"/>
          </a:xfrm>
          <a:prstGeom prst="roundRect">
            <a:avLst>
              <a:gd name="adj" fmla="val 15000"/>
            </a:avLst>
          </a:prstGeom>
          <a:solidFill>
            <a:srgbClr val="F28A5B"/>
          </a:solidFill>
          <a:ln w="12700">
            <a:solidFill>
              <a:srgbClr val="F28A5B"/>
            </a:solidFill>
            <a:prstDash val="solid"/>
          </a:ln>
        </p:spPr>
      </p:sp>
      <p:sp>
        <p:nvSpPr>
          <p:cNvPr id="16" name="Text 13"/>
          <p:cNvSpPr txBox="1"/>
          <p:nvPr/>
        </p:nvSpPr>
        <p:spPr>
          <a:xfrm>
            <a:off x="822960" y="5303520"/>
            <a:ext cx="10545775" cy="731520"/>
          </a:xfrm>
          <a:prstGeom prst="rect">
            <a:avLst/>
          </a:prstGeom>
          <a:noFill/>
          <a:ln/>
        </p:spPr>
        <p:txBody>
          <a:bodyPr wrap="square" lIns="0" tIns="0" rIns="0" bIns="0" rtlCol="0" anchor="ctr"/>
          <a:lstStyle/>
          <a:p>
            <a:pPr indent="0" marL="0">
              <a:buNone/>
            </a:pPr>
            <a:r>
              <a:rPr lang="en-US" sz="1800" b="1" dirty="0">
                <a:solidFill>
                  <a:srgbClr val="0F1B2D"/>
                </a:solidFill>
              </a:rPr>
              <a:t>Trong tình huống nguy hiểm ngay lúc này, hãy gọi 113, 114 hoặc 115. Hệ thống không thay thế cuộc gọi cấp cứu.</a:t>
            </a:r>
            <a:endParaRPr lang="en-US" sz="1800" dirty="0"/>
          </a:p>
        </p:txBody>
      </p:sp>
      <p:sp>
        <p:nvSpPr>
          <p:cNvPr id="17" name="Text 14"/>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9AA8BD"/>
                </a:solidFill>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LUỒNG 2 · ĐIỀU PHỐI VIÊN</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Xử lý tín hiệu SOS</a:t>
            </a:r>
            <a:endParaRPr lang="en-US" sz="3200" dirty="0"/>
          </a:p>
        </p:txBody>
      </p:sp>
      <p:sp>
        <p:nvSpPr>
          <p:cNvPr id="6" name="Shape 3"/>
          <p:cNvSpPr/>
          <p:nvPr/>
        </p:nvSpPr>
        <p:spPr>
          <a:xfrm>
            <a:off x="548640" y="1554480"/>
            <a:ext cx="3545738" cy="1737360"/>
          </a:xfrm>
          <a:prstGeom prst="roundRect">
            <a:avLst>
              <a:gd name="adj" fmla="val 6316"/>
            </a:avLst>
          </a:prstGeom>
          <a:solidFill>
            <a:srgbClr val="FFFFFF"/>
          </a:solidFill>
          <a:ln w="12700">
            <a:solidFill>
              <a:srgbClr val="D9DEE6"/>
            </a:solidFill>
            <a:prstDash val="solid"/>
          </a:ln>
        </p:spPr>
      </p:sp>
      <p:sp>
        <p:nvSpPr>
          <p:cNvPr id="7" name="Text 4"/>
          <p:cNvSpPr txBox="1"/>
          <p:nvPr/>
        </p:nvSpPr>
        <p:spPr>
          <a:xfrm>
            <a:off x="777240" y="173736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Bước 1</a:t>
            </a:r>
            <a:endParaRPr lang="en-US" sz="1400" dirty="0"/>
          </a:p>
        </p:txBody>
      </p:sp>
      <p:sp>
        <p:nvSpPr>
          <p:cNvPr id="8" name="Text 5"/>
          <p:cNvSpPr txBox="1"/>
          <p:nvPr/>
        </p:nvSpPr>
        <p:spPr>
          <a:xfrm>
            <a:off x="777240" y="205740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Hàng đợi</a:t>
            </a:r>
            <a:endParaRPr lang="en-US" sz="2000" dirty="0"/>
          </a:p>
        </p:txBody>
      </p:sp>
      <p:sp>
        <p:nvSpPr>
          <p:cNvPr id="9" name="Text 6"/>
          <p:cNvSpPr txBox="1"/>
          <p:nvPr/>
        </p:nvSpPr>
        <p:spPr>
          <a:xfrm>
            <a:off x="777240" y="2514600"/>
            <a:ext cx="3088538" cy="640080"/>
          </a:xfrm>
          <a:prstGeom prst="rect">
            <a:avLst/>
          </a:prstGeom>
          <a:noFill/>
          <a:ln/>
        </p:spPr>
        <p:txBody>
          <a:bodyPr wrap="square" lIns="0" tIns="0" rIns="0" bIns="0" rtlCol="0" anchor="t"/>
          <a:lstStyle/>
          <a:p>
            <a:pPr indent="0" marL="0">
              <a:buNone/>
            </a:pPr>
            <a:r>
              <a:rPr lang="en-US" sz="1400" dirty="0">
                <a:solidFill>
                  <a:srgbClr val="3B4659"/>
                </a:solidFill>
              </a:rPr>
              <a:t>Yêu cầu mới theo thời gian nhận; thấy ngay cờ nguy hiểm và cảnh báo quá hạn.</a:t>
            </a:r>
            <a:endParaRPr lang="en-US" sz="1400" dirty="0"/>
          </a:p>
        </p:txBody>
      </p:sp>
      <p:sp>
        <p:nvSpPr>
          <p:cNvPr id="10" name="Shape 7"/>
          <p:cNvSpPr/>
          <p:nvPr/>
        </p:nvSpPr>
        <p:spPr>
          <a:xfrm>
            <a:off x="4322978" y="1554480"/>
            <a:ext cx="3545738" cy="1737360"/>
          </a:xfrm>
          <a:prstGeom prst="roundRect">
            <a:avLst>
              <a:gd name="adj" fmla="val 6316"/>
            </a:avLst>
          </a:prstGeom>
          <a:solidFill>
            <a:srgbClr val="FFFFFF"/>
          </a:solidFill>
          <a:ln w="12700">
            <a:solidFill>
              <a:srgbClr val="D9DEE6"/>
            </a:solidFill>
            <a:prstDash val="solid"/>
          </a:ln>
        </p:spPr>
      </p:sp>
      <p:sp>
        <p:nvSpPr>
          <p:cNvPr id="11" name="Text 8"/>
          <p:cNvSpPr txBox="1"/>
          <p:nvPr/>
        </p:nvSpPr>
        <p:spPr>
          <a:xfrm>
            <a:off x="4551578" y="173736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Bước 2</a:t>
            </a:r>
            <a:endParaRPr lang="en-US" sz="1400" dirty="0"/>
          </a:p>
        </p:txBody>
      </p:sp>
      <p:sp>
        <p:nvSpPr>
          <p:cNvPr id="12" name="Text 9"/>
          <p:cNvSpPr txBox="1"/>
          <p:nvPr/>
        </p:nvSpPr>
        <p:spPr>
          <a:xfrm>
            <a:off x="4551578" y="205740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Sàng lọc</a:t>
            </a:r>
            <a:endParaRPr lang="en-US" sz="2000" dirty="0"/>
          </a:p>
        </p:txBody>
      </p:sp>
      <p:sp>
        <p:nvSpPr>
          <p:cNvPr id="13" name="Text 10"/>
          <p:cNvSpPr txBox="1"/>
          <p:nvPr/>
        </p:nvSpPr>
        <p:spPr>
          <a:xfrm>
            <a:off x="4551578" y="2514600"/>
            <a:ext cx="3088538" cy="640080"/>
          </a:xfrm>
          <a:prstGeom prst="rect">
            <a:avLst/>
          </a:prstGeom>
          <a:noFill/>
          <a:ln/>
        </p:spPr>
        <p:txBody>
          <a:bodyPr wrap="square" lIns="0" tIns="0" rIns="0" bIns="0" rtlCol="0" anchor="t"/>
          <a:lstStyle/>
          <a:p>
            <a:pPr indent="0" marL="0">
              <a:buNone/>
            </a:pPr>
            <a:r>
              <a:rPr lang="en-US" sz="1400" dirty="0">
                <a:solidFill>
                  <a:srgbClr val="3B4659"/>
                </a:solidFill>
              </a:rPr>
              <a:t>Phát hiện báo trùng, thông tin mâu thuẫn. Hệ thống chỉ gợi ý, con người quyết định.</a:t>
            </a:r>
            <a:endParaRPr lang="en-US" sz="1400" dirty="0"/>
          </a:p>
        </p:txBody>
      </p:sp>
      <p:sp>
        <p:nvSpPr>
          <p:cNvPr id="14" name="Shape 11"/>
          <p:cNvSpPr/>
          <p:nvPr/>
        </p:nvSpPr>
        <p:spPr>
          <a:xfrm>
            <a:off x="8097317" y="1554480"/>
            <a:ext cx="3545738" cy="1737360"/>
          </a:xfrm>
          <a:prstGeom prst="roundRect">
            <a:avLst>
              <a:gd name="adj" fmla="val 6316"/>
            </a:avLst>
          </a:prstGeom>
          <a:solidFill>
            <a:srgbClr val="FFFFFF"/>
          </a:solidFill>
          <a:ln w="12700">
            <a:solidFill>
              <a:srgbClr val="D9DEE6"/>
            </a:solidFill>
            <a:prstDash val="solid"/>
          </a:ln>
        </p:spPr>
      </p:sp>
      <p:sp>
        <p:nvSpPr>
          <p:cNvPr id="15" name="Text 12"/>
          <p:cNvSpPr txBox="1"/>
          <p:nvPr/>
        </p:nvSpPr>
        <p:spPr>
          <a:xfrm>
            <a:off x="8325917" y="173736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Bước 3</a:t>
            </a:r>
            <a:endParaRPr lang="en-US" sz="1400" dirty="0"/>
          </a:p>
        </p:txBody>
      </p:sp>
      <p:sp>
        <p:nvSpPr>
          <p:cNvPr id="16" name="Text 13"/>
          <p:cNvSpPr txBox="1"/>
          <p:nvPr/>
        </p:nvSpPr>
        <p:spPr>
          <a:xfrm>
            <a:off x="8325917" y="205740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Xác minh</a:t>
            </a:r>
            <a:endParaRPr lang="en-US" sz="2000" dirty="0"/>
          </a:p>
        </p:txBody>
      </p:sp>
      <p:sp>
        <p:nvSpPr>
          <p:cNvPr id="17" name="Text 14"/>
          <p:cNvSpPr txBox="1"/>
          <p:nvPr/>
        </p:nvSpPr>
        <p:spPr>
          <a:xfrm>
            <a:off x="8325917" y="2514600"/>
            <a:ext cx="3088538" cy="640080"/>
          </a:xfrm>
          <a:prstGeom prst="rect">
            <a:avLst/>
          </a:prstGeom>
          <a:noFill/>
          <a:ln/>
        </p:spPr>
        <p:txBody>
          <a:bodyPr wrap="square" lIns="0" tIns="0" rIns="0" bIns="0" rtlCol="0" anchor="t"/>
          <a:lstStyle/>
          <a:p>
            <a:pPr indent="0" marL="0">
              <a:buNone/>
            </a:pPr>
            <a:r>
              <a:rPr lang="en-US" sz="1400" dirty="0">
                <a:solidFill>
                  <a:srgbClr val="3B4659"/>
                </a:solidFill>
              </a:rPr>
              <a:t>Đối chiếu vị trí, thông tin, ảnh; chọn một kết quả: đã xác minh, từ chối hoặc trùng.</a:t>
            </a:r>
            <a:endParaRPr lang="en-US" sz="1400" dirty="0"/>
          </a:p>
        </p:txBody>
      </p:sp>
      <p:sp>
        <p:nvSpPr>
          <p:cNvPr id="18" name="Shape 15"/>
          <p:cNvSpPr/>
          <p:nvPr/>
        </p:nvSpPr>
        <p:spPr>
          <a:xfrm>
            <a:off x="548640" y="3520440"/>
            <a:ext cx="3545738" cy="1737360"/>
          </a:xfrm>
          <a:prstGeom prst="roundRect">
            <a:avLst>
              <a:gd name="adj" fmla="val 6316"/>
            </a:avLst>
          </a:prstGeom>
          <a:solidFill>
            <a:srgbClr val="FFFFFF"/>
          </a:solidFill>
          <a:ln w="12700">
            <a:solidFill>
              <a:srgbClr val="D9DEE6"/>
            </a:solidFill>
            <a:prstDash val="solid"/>
          </a:ln>
        </p:spPr>
      </p:sp>
      <p:sp>
        <p:nvSpPr>
          <p:cNvPr id="19" name="Text 16"/>
          <p:cNvSpPr txBox="1"/>
          <p:nvPr/>
        </p:nvSpPr>
        <p:spPr>
          <a:xfrm>
            <a:off x="777240" y="370332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Bước 4</a:t>
            </a:r>
            <a:endParaRPr lang="en-US" sz="1400" dirty="0"/>
          </a:p>
        </p:txBody>
      </p:sp>
      <p:sp>
        <p:nvSpPr>
          <p:cNvPr id="20" name="Text 17"/>
          <p:cNvSpPr txBox="1"/>
          <p:nvPr/>
        </p:nvSpPr>
        <p:spPr>
          <a:xfrm>
            <a:off x="777240" y="402336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Ưu tiên P1–P4</a:t>
            </a:r>
            <a:endParaRPr lang="en-US" sz="2000" dirty="0"/>
          </a:p>
        </p:txBody>
      </p:sp>
      <p:sp>
        <p:nvSpPr>
          <p:cNvPr id="21" name="Text 18"/>
          <p:cNvSpPr txBox="1"/>
          <p:nvPr/>
        </p:nvSpPr>
        <p:spPr>
          <a:xfrm>
            <a:off x="777240" y="4480560"/>
            <a:ext cx="3088538" cy="640080"/>
          </a:xfrm>
          <a:prstGeom prst="rect">
            <a:avLst/>
          </a:prstGeom>
          <a:noFill/>
          <a:ln/>
        </p:spPr>
        <p:txBody>
          <a:bodyPr wrap="square" lIns="0" tIns="0" rIns="0" bIns="0" rtlCol="0" anchor="t"/>
          <a:lstStyle/>
          <a:p>
            <a:pPr indent="0" marL="0">
              <a:buNone/>
            </a:pPr>
            <a:r>
              <a:rPr lang="en-US" sz="1400" dirty="0">
                <a:solidFill>
                  <a:srgbClr val="3B4659"/>
                </a:solidFill>
              </a:rPr>
              <a:t>Điều phối viên chọn mức và ghi lý do. Không có xếp hạng tự động.</a:t>
            </a:r>
            <a:endParaRPr lang="en-US" sz="1400" dirty="0"/>
          </a:p>
        </p:txBody>
      </p:sp>
      <p:sp>
        <p:nvSpPr>
          <p:cNvPr id="22" name="Shape 19"/>
          <p:cNvSpPr/>
          <p:nvPr/>
        </p:nvSpPr>
        <p:spPr>
          <a:xfrm>
            <a:off x="4322978" y="3520440"/>
            <a:ext cx="3545738" cy="1737360"/>
          </a:xfrm>
          <a:prstGeom prst="roundRect">
            <a:avLst>
              <a:gd name="adj" fmla="val 6316"/>
            </a:avLst>
          </a:prstGeom>
          <a:solidFill>
            <a:srgbClr val="FFFFFF"/>
          </a:solidFill>
          <a:ln w="12700">
            <a:solidFill>
              <a:srgbClr val="D9DEE6"/>
            </a:solidFill>
            <a:prstDash val="solid"/>
          </a:ln>
        </p:spPr>
      </p:sp>
      <p:sp>
        <p:nvSpPr>
          <p:cNvPr id="23" name="Text 20"/>
          <p:cNvSpPr txBox="1"/>
          <p:nvPr/>
        </p:nvSpPr>
        <p:spPr>
          <a:xfrm>
            <a:off x="4551578" y="370332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Bước 5</a:t>
            </a:r>
            <a:endParaRPr lang="en-US" sz="1400" dirty="0"/>
          </a:p>
        </p:txBody>
      </p:sp>
      <p:sp>
        <p:nvSpPr>
          <p:cNvPr id="24" name="Text 21"/>
          <p:cNvSpPr txBox="1"/>
          <p:nvPr/>
        </p:nvSpPr>
        <p:spPr>
          <a:xfrm>
            <a:off x="4551578" y="402336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Chọn đội</a:t>
            </a:r>
            <a:endParaRPr lang="en-US" sz="2000" dirty="0"/>
          </a:p>
        </p:txBody>
      </p:sp>
      <p:sp>
        <p:nvSpPr>
          <p:cNvPr id="25" name="Text 22"/>
          <p:cNvSpPr txBox="1"/>
          <p:nvPr/>
        </p:nvSpPr>
        <p:spPr>
          <a:xfrm>
            <a:off x="4551578" y="4480560"/>
            <a:ext cx="3088538" cy="640080"/>
          </a:xfrm>
          <a:prstGeom prst="rect">
            <a:avLst/>
          </a:prstGeom>
          <a:noFill/>
          <a:ln/>
        </p:spPr>
        <p:txBody>
          <a:bodyPr wrap="square" lIns="0" tIns="0" rIns="0" bIns="0" rtlCol="0" anchor="t"/>
          <a:lstStyle/>
          <a:p>
            <a:pPr indent="0" marL="0">
              <a:buNone/>
            </a:pPr>
            <a:r>
              <a:rPr lang="en-US" sz="1400" dirty="0">
                <a:solidFill>
                  <a:srgbClr val="3B4659"/>
                </a:solidFill>
              </a:rPr>
              <a:t>So sánh khoảng cách, năng lực, tải gần đây rồi gửi lời mời nhiệm vụ.</a:t>
            </a:r>
            <a:endParaRPr lang="en-US" sz="1400" dirty="0"/>
          </a:p>
        </p:txBody>
      </p:sp>
      <p:sp>
        <p:nvSpPr>
          <p:cNvPr id="26" name="Shape 23"/>
          <p:cNvSpPr/>
          <p:nvPr/>
        </p:nvSpPr>
        <p:spPr>
          <a:xfrm>
            <a:off x="8097317" y="3520440"/>
            <a:ext cx="3545738" cy="1737360"/>
          </a:xfrm>
          <a:prstGeom prst="roundRect">
            <a:avLst>
              <a:gd name="adj" fmla="val 6316"/>
            </a:avLst>
          </a:prstGeom>
          <a:solidFill>
            <a:srgbClr val="FFFFFF"/>
          </a:solidFill>
          <a:ln w="12700">
            <a:solidFill>
              <a:srgbClr val="D9DEE6"/>
            </a:solidFill>
            <a:prstDash val="solid"/>
          </a:ln>
        </p:spPr>
      </p:sp>
      <p:sp>
        <p:nvSpPr>
          <p:cNvPr id="27" name="Text 24"/>
          <p:cNvSpPr txBox="1"/>
          <p:nvPr/>
        </p:nvSpPr>
        <p:spPr>
          <a:xfrm>
            <a:off x="8325917" y="370332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Bước 6</a:t>
            </a:r>
            <a:endParaRPr lang="en-US" sz="1400" dirty="0"/>
          </a:p>
        </p:txBody>
      </p:sp>
      <p:sp>
        <p:nvSpPr>
          <p:cNvPr id="28" name="Text 25"/>
          <p:cNvSpPr txBox="1"/>
          <p:nvPr/>
        </p:nvSpPr>
        <p:spPr>
          <a:xfrm>
            <a:off x="8325917" y="402336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Chốt kết quả</a:t>
            </a:r>
            <a:endParaRPr lang="en-US" sz="2000" dirty="0"/>
          </a:p>
        </p:txBody>
      </p:sp>
      <p:sp>
        <p:nvSpPr>
          <p:cNvPr id="29" name="Text 26"/>
          <p:cNvSpPr txBox="1"/>
          <p:nvPr/>
        </p:nvSpPr>
        <p:spPr>
          <a:xfrm>
            <a:off x="8325917" y="4480560"/>
            <a:ext cx="3088538" cy="640080"/>
          </a:xfrm>
          <a:prstGeom prst="rect">
            <a:avLst/>
          </a:prstGeom>
          <a:noFill/>
          <a:ln/>
        </p:spPr>
        <p:txBody>
          <a:bodyPr wrap="square" lIns="0" tIns="0" rIns="0" bIns="0" rtlCol="0" anchor="t"/>
          <a:lstStyle/>
          <a:p>
            <a:pPr indent="0" marL="0">
              <a:buNone/>
            </a:pPr>
            <a:r>
              <a:rPr lang="en-US" sz="1400" dirty="0">
                <a:solidFill>
                  <a:srgbClr val="3B4659"/>
                </a:solidFill>
              </a:rPr>
              <a:t>Xác nhận giải quyết sau khi xem bằng chứng nhiệm vụ; có thể mở lại kèm lý do.</a:t>
            </a:r>
            <a:endParaRPr lang="en-US" sz="1400" dirty="0"/>
          </a:p>
        </p:txBody>
      </p:sp>
      <p:sp>
        <p:nvSpPr>
          <p:cNvPr id="30" name="Text 27"/>
          <p:cNvSpPr txBox="1"/>
          <p:nvPr/>
        </p:nvSpPr>
        <p:spPr>
          <a:xfrm>
            <a:off x="548640" y="5486400"/>
            <a:ext cx="11094415" cy="640080"/>
          </a:xfrm>
          <a:prstGeom prst="rect">
            <a:avLst/>
          </a:prstGeom>
          <a:noFill/>
          <a:ln/>
        </p:spPr>
        <p:txBody>
          <a:bodyPr wrap="square" lIns="0" tIns="0" rIns="0" bIns="0" rtlCol="0" anchor="ctr"/>
          <a:lstStyle/>
          <a:p>
            <a:pPr indent="0" marL="0">
              <a:buNone/>
            </a:pPr>
            <a:r>
              <a:rPr lang="en-US" sz="1400" dirty="0">
                <a:solidFill>
                  <a:srgbClr val="3B4659"/>
                </a:solidFill>
              </a:rPr>
              <a:t>Trạng thái yêu cầu: SUBMITTED → VERIFYING → VERIFIED → TRIAGED → DISPATCHED → IN_PROGRESS → RESOLVING → RESOLVED → CLOSED</a:t>
            </a:r>
            <a:endParaRPr lang="en-US" sz="1400" dirty="0"/>
          </a:p>
        </p:txBody>
      </p:sp>
      <p:sp>
        <p:nvSpPr>
          <p:cNvPr id="31" name="Text 28"/>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Reliva · Luồng 2 · Điều phối</a:t>
            </a:r>
            <a:endParaRPr lang="en-US" sz="1200" dirty="0"/>
          </a:p>
        </p:txBody>
      </p:sp>
      <p:sp>
        <p:nvSpPr>
          <p:cNvPr id="32" name="Text 29"/>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F28A5B"/>
                </a:solidFill>
              </a:rPr>
              <a:t>LUỒNG 2 · ƯU TIÊN</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F4F6F9"/>
                </a:solidFill>
              </a:rPr>
              <a:t>Mức ưu tiên P1–P4 do điều phối viên quyết định</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1097280"/>
                <a:gridCol w="4937760"/>
                <a:gridCol w="5029200"/>
              </a:tblGrid>
              <a:tr h="0">
                <a:tc>
                  <a:txBody>
                    <a:bodyPr/>
                    <a:lstStyle/>
                    <a:p>
                      <a:pPr indent="0" marL="0">
                        <a:buNone/>
                      </a:pPr>
                      <a:r>
                        <a:rPr lang="en-US" sz="1500" b="1" dirty="0">
                          <a:solidFill>
                            <a:srgbClr val="F28A5B"/>
                          </a:solidFill>
                        </a:rPr>
                        <a:t>Mức</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0F1B2D"/>
                    </a:solidFill>
                  </a:tcPr>
                </a:tc>
                <a:tc>
                  <a:txBody>
                    <a:bodyPr/>
                    <a:lstStyle/>
                    <a:p>
                      <a:pPr indent="0" marL="0">
                        <a:buNone/>
                      </a:pPr>
                      <a:r>
                        <a:rPr lang="en-US" sz="1500" b="1" dirty="0">
                          <a:solidFill>
                            <a:srgbClr val="F28A5B"/>
                          </a:solidFill>
                        </a:rPr>
                        <a:t>Tiêu chí (bản nháp)</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0F1B2D"/>
                    </a:solidFill>
                  </a:tcPr>
                </a:tc>
                <a:tc>
                  <a:txBody>
                    <a:bodyPr/>
                    <a:lstStyle/>
                    <a:p>
                      <a:pPr indent="0" marL="0">
                        <a:buNone/>
                      </a:pPr>
                      <a:r>
                        <a:rPr lang="en-US" sz="1500" b="1" dirty="0">
                          <a:solidFill>
                            <a:srgbClr val="F28A5B"/>
                          </a:solidFill>
                        </a:rPr>
                        <a:t>Ví dụ minh họa</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0F1B2D"/>
                    </a:solidFill>
                  </a:tcPr>
                </a:tc>
              </a:tr>
              <a:tr h="0">
                <a:tc>
                  <a:txBody>
                    <a:bodyPr/>
                    <a:lstStyle/>
                    <a:p>
                      <a:pPr indent="0" marL="0">
                        <a:buNone/>
                      </a:pPr>
                      <a:r>
                        <a:rPr lang="en-US" sz="1500" b="1" dirty="0">
                          <a:solidFill>
                            <a:srgbClr val="F4F6F9"/>
                          </a:solidFill>
                        </a:rPr>
                        <a:t>P1</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Mối đe dọa tính mạng đã được xác minh, đang diễn ra</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Hộ gia đình bị nước dâng vây quanh, có trẻ em hoặc người bị thương</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P2</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Nguy cơ nghiêm trọng trong vài giờ nếu thiếu hỗ trợ</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Thiếu nước uống hơn một ngày, có người cao tuổi</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P3</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Cần hỗ trợ nhưng chưa nguy hiểm tức thời</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Nhà hư hại hoặc thiếu nhu yếu phẩm trong tình huống ổn định</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P4</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Thông tin, theo dõi hoặc không khẩn cấp</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Hỏi tình trạng, bổ sung báo cáo trước đó</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bl>
          </a:graphicData>
        </a:graphic>
      </p:graphicFrame>
      <p:sp>
        <p:nvSpPr>
          <p:cNvPr id="7" name="Text 3"/>
          <p:cNvSpPr txBox="1"/>
          <p:nvPr/>
        </p:nvSpPr>
        <p:spPr>
          <a:xfrm>
            <a:off x="548640" y="5212080"/>
            <a:ext cx="11094415" cy="548640"/>
          </a:xfrm>
          <a:prstGeom prst="rect">
            <a:avLst/>
          </a:prstGeom>
          <a:noFill/>
          <a:ln/>
        </p:spPr>
        <p:txBody>
          <a:bodyPr wrap="square" lIns="0" tIns="0" rIns="0" bIns="0" rtlCol="0" anchor="ctr"/>
          <a:lstStyle/>
          <a:p>
            <a:pPr indent="0" marL="0">
              <a:buNone/>
            </a:pPr>
            <a:r>
              <a:rPr lang="en-US" sz="1600" dirty="0">
                <a:solidFill>
                  <a:srgbClr val="B8C4D6"/>
                </a:solidFill>
              </a:rPr>
              <a:t>Ba thứ được tách bạch: cờ nguy hiểm do người báo khai, trạng thái xác minh và mức ưu tiên của điều phối viên.</a:t>
            </a:r>
            <a:endParaRPr lang="en-US" sz="1600" dirty="0"/>
          </a:p>
        </p:txBody>
      </p:sp>
      <p:sp>
        <p:nvSpPr>
          <p:cNvPr id="8" name="Text 4"/>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9AA8BD"/>
                </a:solidFill>
              </a:rPr>
              <a:t>Tiêu chí là quy tắc mô phỏng do nhóm đề xuất, cần chuyên gia lĩnh vực rà soát trước khi dùng thực tế.</a:t>
            </a:r>
            <a:endParaRPr lang="en-US" sz="1200" dirty="0"/>
          </a:p>
        </p:txBody>
      </p:sp>
      <p:sp>
        <p:nvSpPr>
          <p:cNvPr id="9" name="Text 5"/>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9AA8BD"/>
                </a:solidFill>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LUỒNG 3 · ĐỘI CỨU HỘ</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Tiếp nhận và thực hiện nhiệm vụ</a:t>
            </a:r>
            <a:endParaRPr lang="en-US" sz="3200" dirty="0"/>
          </a:p>
        </p:txBody>
      </p:sp>
      <p:sp>
        <p:nvSpPr>
          <p:cNvPr id="6" name="Shape 3"/>
          <p:cNvSpPr/>
          <p:nvPr/>
        </p:nvSpPr>
        <p:spPr>
          <a:xfrm>
            <a:off x="548640" y="2011680"/>
            <a:ext cx="1706819" cy="1188720"/>
          </a:xfrm>
          <a:prstGeom prst="roundRect">
            <a:avLst>
              <a:gd name="adj" fmla="val 9231"/>
            </a:avLst>
          </a:prstGeom>
          <a:solidFill>
            <a:srgbClr val="FFFFFF"/>
          </a:solidFill>
          <a:ln w="12700">
            <a:solidFill>
              <a:srgbClr val="D9DEE6"/>
            </a:solidFill>
            <a:prstDash val="solid"/>
          </a:ln>
        </p:spPr>
      </p:sp>
      <p:sp>
        <p:nvSpPr>
          <p:cNvPr id="7" name="Text 4"/>
          <p:cNvSpPr txBox="1"/>
          <p:nvPr/>
        </p:nvSpPr>
        <p:spPr>
          <a:xfrm>
            <a:off x="685800" y="2103120"/>
            <a:ext cx="1432499" cy="320040"/>
          </a:xfrm>
          <a:prstGeom prst="rect">
            <a:avLst/>
          </a:prstGeom>
          <a:noFill/>
          <a:ln/>
        </p:spPr>
        <p:txBody>
          <a:bodyPr wrap="square" lIns="0" tIns="0" rIns="0" bIns="0" rtlCol="0" anchor="ctr"/>
          <a:lstStyle/>
          <a:p>
            <a:pPr indent="0" marL="0">
              <a:buNone/>
            </a:pPr>
            <a:r>
              <a:rPr lang="en-US" sz="1400" b="1" dirty="0">
                <a:solidFill>
                  <a:srgbClr val="C2410C"/>
                </a:solidFill>
              </a:rPr>
              <a:t>OFFERED</a:t>
            </a:r>
            <a:endParaRPr lang="en-US" sz="1400" dirty="0"/>
          </a:p>
        </p:txBody>
      </p:sp>
      <p:sp>
        <p:nvSpPr>
          <p:cNvPr id="8" name="Text 5"/>
          <p:cNvSpPr txBox="1"/>
          <p:nvPr/>
        </p:nvSpPr>
        <p:spPr>
          <a:xfrm>
            <a:off x="685800" y="2468880"/>
            <a:ext cx="1432499" cy="640080"/>
          </a:xfrm>
          <a:prstGeom prst="rect">
            <a:avLst/>
          </a:prstGeom>
          <a:noFill/>
          <a:ln/>
        </p:spPr>
        <p:txBody>
          <a:bodyPr wrap="square" lIns="0" tIns="0" rIns="0" bIns="0" rtlCol="0" anchor="t"/>
          <a:lstStyle/>
          <a:p>
            <a:pPr indent="0" marL="0">
              <a:buNone/>
            </a:pPr>
            <a:r>
              <a:rPr lang="en-US" sz="1800" b="1" dirty="0">
                <a:solidFill>
                  <a:srgbClr val="14213D"/>
                </a:solidFill>
              </a:rPr>
              <a:t>Được giao</a:t>
            </a:r>
            <a:endParaRPr lang="en-US" sz="1800" dirty="0"/>
          </a:p>
        </p:txBody>
      </p:sp>
      <p:sp>
        <p:nvSpPr>
          <p:cNvPr id="9" name="Shape 6"/>
          <p:cNvSpPr/>
          <p:nvPr/>
        </p:nvSpPr>
        <p:spPr>
          <a:xfrm>
            <a:off x="2392619" y="2468880"/>
            <a:ext cx="365760" cy="274320"/>
          </a:xfrm>
          <a:prstGeom prst="rightArrow">
            <a:avLst/>
          </a:prstGeom>
          <a:solidFill>
            <a:srgbClr val="C2410C"/>
          </a:solidFill>
          <a:ln w="12700">
            <a:solidFill>
              <a:srgbClr val="C2410C"/>
            </a:solidFill>
            <a:prstDash val="solid"/>
          </a:ln>
        </p:spPr>
      </p:sp>
      <p:sp>
        <p:nvSpPr>
          <p:cNvPr id="10" name="Shape 7"/>
          <p:cNvSpPr/>
          <p:nvPr/>
        </p:nvSpPr>
        <p:spPr>
          <a:xfrm>
            <a:off x="2895539" y="2011680"/>
            <a:ext cx="1706819" cy="1188720"/>
          </a:xfrm>
          <a:prstGeom prst="roundRect">
            <a:avLst>
              <a:gd name="adj" fmla="val 9231"/>
            </a:avLst>
          </a:prstGeom>
          <a:solidFill>
            <a:srgbClr val="FFFFFF"/>
          </a:solidFill>
          <a:ln w="12700">
            <a:solidFill>
              <a:srgbClr val="D9DEE6"/>
            </a:solidFill>
            <a:prstDash val="solid"/>
          </a:ln>
        </p:spPr>
      </p:sp>
      <p:sp>
        <p:nvSpPr>
          <p:cNvPr id="11" name="Text 8"/>
          <p:cNvSpPr txBox="1"/>
          <p:nvPr/>
        </p:nvSpPr>
        <p:spPr>
          <a:xfrm>
            <a:off x="3032699" y="2103120"/>
            <a:ext cx="1432499" cy="320040"/>
          </a:xfrm>
          <a:prstGeom prst="rect">
            <a:avLst/>
          </a:prstGeom>
          <a:noFill/>
          <a:ln/>
        </p:spPr>
        <p:txBody>
          <a:bodyPr wrap="square" lIns="0" tIns="0" rIns="0" bIns="0" rtlCol="0" anchor="ctr"/>
          <a:lstStyle/>
          <a:p>
            <a:pPr indent="0" marL="0">
              <a:buNone/>
            </a:pPr>
            <a:r>
              <a:rPr lang="en-US" sz="1400" b="1" dirty="0">
                <a:solidFill>
                  <a:srgbClr val="C2410C"/>
                </a:solidFill>
              </a:rPr>
              <a:t>ACCEPTED</a:t>
            </a:r>
            <a:endParaRPr lang="en-US" sz="1400" dirty="0"/>
          </a:p>
        </p:txBody>
      </p:sp>
      <p:sp>
        <p:nvSpPr>
          <p:cNvPr id="12" name="Text 9"/>
          <p:cNvSpPr txBox="1"/>
          <p:nvPr/>
        </p:nvSpPr>
        <p:spPr>
          <a:xfrm>
            <a:off x="3032699" y="2468880"/>
            <a:ext cx="1432499" cy="640080"/>
          </a:xfrm>
          <a:prstGeom prst="rect">
            <a:avLst/>
          </a:prstGeom>
          <a:noFill/>
          <a:ln/>
        </p:spPr>
        <p:txBody>
          <a:bodyPr wrap="square" lIns="0" tIns="0" rIns="0" bIns="0" rtlCol="0" anchor="t"/>
          <a:lstStyle/>
          <a:p>
            <a:pPr indent="0" marL="0">
              <a:buNone/>
            </a:pPr>
            <a:r>
              <a:rPr lang="en-US" sz="1800" b="1" dirty="0">
                <a:solidFill>
                  <a:srgbClr val="14213D"/>
                </a:solidFill>
              </a:rPr>
              <a:t>Đã nhận</a:t>
            </a:r>
            <a:endParaRPr lang="en-US" sz="1800" dirty="0"/>
          </a:p>
        </p:txBody>
      </p:sp>
      <p:sp>
        <p:nvSpPr>
          <p:cNvPr id="13" name="Shape 10"/>
          <p:cNvSpPr/>
          <p:nvPr/>
        </p:nvSpPr>
        <p:spPr>
          <a:xfrm>
            <a:off x="4739518" y="2468880"/>
            <a:ext cx="365760" cy="274320"/>
          </a:xfrm>
          <a:prstGeom prst="rightArrow">
            <a:avLst/>
          </a:prstGeom>
          <a:solidFill>
            <a:srgbClr val="C2410C"/>
          </a:solidFill>
          <a:ln w="12700">
            <a:solidFill>
              <a:srgbClr val="C2410C"/>
            </a:solidFill>
            <a:prstDash val="solid"/>
          </a:ln>
        </p:spPr>
      </p:sp>
      <p:sp>
        <p:nvSpPr>
          <p:cNvPr id="14" name="Shape 11"/>
          <p:cNvSpPr/>
          <p:nvPr/>
        </p:nvSpPr>
        <p:spPr>
          <a:xfrm>
            <a:off x="5242438" y="2011680"/>
            <a:ext cx="1706819" cy="1188720"/>
          </a:xfrm>
          <a:prstGeom prst="roundRect">
            <a:avLst>
              <a:gd name="adj" fmla="val 9231"/>
            </a:avLst>
          </a:prstGeom>
          <a:solidFill>
            <a:srgbClr val="FFFFFF"/>
          </a:solidFill>
          <a:ln w="12700">
            <a:solidFill>
              <a:srgbClr val="D9DEE6"/>
            </a:solidFill>
            <a:prstDash val="solid"/>
          </a:ln>
        </p:spPr>
      </p:sp>
      <p:sp>
        <p:nvSpPr>
          <p:cNvPr id="15" name="Text 12"/>
          <p:cNvSpPr txBox="1"/>
          <p:nvPr/>
        </p:nvSpPr>
        <p:spPr>
          <a:xfrm>
            <a:off x="5379598" y="2103120"/>
            <a:ext cx="1432499" cy="320040"/>
          </a:xfrm>
          <a:prstGeom prst="rect">
            <a:avLst/>
          </a:prstGeom>
          <a:noFill/>
          <a:ln/>
        </p:spPr>
        <p:txBody>
          <a:bodyPr wrap="square" lIns="0" tIns="0" rIns="0" bIns="0" rtlCol="0" anchor="ctr"/>
          <a:lstStyle/>
          <a:p>
            <a:pPr indent="0" marL="0">
              <a:buNone/>
            </a:pPr>
            <a:r>
              <a:rPr lang="en-US" sz="1400" b="1" dirty="0">
                <a:solidFill>
                  <a:srgbClr val="C2410C"/>
                </a:solidFill>
              </a:rPr>
              <a:t>EN_ROUTE</a:t>
            </a:r>
            <a:endParaRPr lang="en-US" sz="1400" dirty="0"/>
          </a:p>
        </p:txBody>
      </p:sp>
      <p:sp>
        <p:nvSpPr>
          <p:cNvPr id="16" name="Text 13"/>
          <p:cNvSpPr txBox="1"/>
          <p:nvPr/>
        </p:nvSpPr>
        <p:spPr>
          <a:xfrm>
            <a:off x="5379598" y="2468880"/>
            <a:ext cx="1432499" cy="640080"/>
          </a:xfrm>
          <a:prstGeom prst="rect">
            <a:avLst/>
          </a:prstGeom>
          <a:noFill/>
          <a:ln/>
        </p:spPr>
        <p:txBody>
          <a:bodyPr wrap="square" lIns="0" tIns="0" rIns="0" bIns="0" rtlCol="0" anchor="t"/>
          <a:lstStyle/>
          <a:p>
            <a:pPr indent="0" marL="0">
              <a:buNone/>
            </a:pPr>
            <a:r>
              <a:rPr lang="en-US" sz="1800" b="1" dirty="0">
                <a:solidFill>
                  <a:srgbClr val="14213D"/>
                </a:solidFill>
              </a:rPr>
              <a:t>Đang di chuyển</a:t>
            </a:r>
            <a:endParaRPr lang="en-US" sz="1800" dirty="0"/>
          </a:p>
        </p:txBody>
      </p:sp>
      <p:sp>
        <p:nvSpPr>
          <p:cNvPr id="17" name="Shape 14"/>
          <p:cNvSpPr/>
          <p:nvPr/>
        </p:nvSpPr>
        <p:spPr>
          <a:xfrm>
            <a:off x="7086417" y="2468880"/>
            <a:ext cx="365760" cy="274320"/>
          </a:xfrm>
          <a:prstGeom prst="rightArrow">
            <a:avLst/>
          </a:prstGeom>
          <a:solidFill>
            <a:srgbClr val="C2410C"/>
          </a:solidFill>
          <a:ln w="12700">
            <a:solidFill>
              <a:srgbClr val="C2410C"/>
            </a:solidFill>
            <a:prstDash val="solid"/>
          </a:ln>
        </p:spPr>
      </p:sp>
      <p:sp>
        <p:nvSpPr>
          <p:cNvPr id="18" name="Shape 15"/>
          <p:cNvSpPr/>
          <p:nvPr/>
        </p:nvSpPr>
        <p:spPr>
          <a:xfrm>
            <a:off x="7589337" y="2011680"/>
            <a:ext cx="1706819" cy="1188720"/>
          </a:xfrm>
          <a:prstGeom prst="roundRect">
            <a:avLst>
              <a:gd name="adj" fmla="val 9231"/>
            </a:avLst>
          </a:prstGeom>
          <a:solidFill>
            <a:srgbClr val="FFFFFF"/>
          </a:solidFill>
          <a:ln w="12700">
            <a:solidFill>
              <a:srgbClr val="D9DEE6"/>
            </a:solidFill>
            <a:prstDash val="solid"/>
          </a:ln>
        </p:spPr>
      </p:sp>
      <p:sp>
        <p:nvSpPr>
          <p:cNvPr id="19" name="Text 16"/>
          <p:cNvSpPr txBox="1"/>
          <p:nvPr/>
        </p:nvSpPr>
        <p:spPr>
          <a:xfrm>
            <a:off x="7726497" y="2103120"/>
            <a:ext cx="1432499" cy="320040"/>
          </a:xfrm>
          <a:prstGeom prst="rect">
            <a:avLst/>
          </a:prstGeom>
          <a:noFill/>
          <a:ln/>
        </p:spPr>
        <p:txBody>
          <a:bodyPr wrap="square" lIns="0" tIns="0" rIns="0" bIns="0" rtlCol="0" anchor="ctr"/>
          <a:lstStyle/>
          <a:p>
            <a:pPr indent="0" marL="0">
              <a:buNone/>
            </a:pPr>
            <a:r>
              <a:rPr lang="en-US" sz="1400" b="1" dirty="0">
                <a:solidFill>
                  <a:srgbClr val="C2410C"/>
                </a:solidFill>
              </a:rPr>
              <a:t>ON_SCENE</a:t>
            </a:r>
            <a:endParaRPr lang="en-US" sz="1400" dirty="0"/>
          </a:p>
        </p:txBody>
      </p:sp>
      <p:sp>
        <p:nvSpPr>
          <p:cNvPr id="20" name="Text 17"/>
          <p:cNvSpPr txBox="1"/>
          <p:nvPr/>
        </p:nvSpPr>
        <p:spPr>
          <a:xfrm>
            <a:off x="7726497" y="2468880"/>
            <a:ext cx="1432499" cy="640080"/>
          </a:xfrm>
          <a:prstGeom prst="rect">
            <a:avLst/>
          </a:prstGeom>
          <a:noFill/>
          <a:ln/>
        </p:spPr>
        <p:txBody>
          <a:bodyPr wrap="square" lIns="0" tIns="0" rIns="0" bIns="0" rtlCol="0" anchor="t"/>
          <a:lstStyle/>
          <a:p>
            <a:pPr indent="0" marL="0">
              <a:buNone/>
            </a:pPr>
            <a:r>
              <a:rPr lang="en-US" sz="1800" b="1" dirty="0">
                <a:solidFill>
                  <a:srgbClr val="14213D"/>
                </a:solidFill>
              </a:rPr>
              <a:t>Tại hiện trường</a:t>
            </a:r>
            <a:endParaRPr lang="en-US" sz="1800" dirty="0"/>
          </a:p>
        </p:txBody>
      </p:sp>
      <p:sp>
        <p:nvSpPr>
          <p:cNvPr id="21" name="Shape 18"/>
          <p:cNvSpPr/>
          <p:nvPr/>
        </p:nvSpPr>
        <p:spPr>
          <a:xfrm>
            <a:off x="9433316" y="2468880"/>
            <a:ext cx="365760" cy="274320"/>
          </a:xfrm>
          <a:prstGeom prst="rightArrow">
            <a:avLst/>
          </a:prstGeom>
          <a:solidFill>
            <a:srgbClr val="C2410C"/>
          </a:solidFill>
          <a:ln w="12700">
            <a:solidFill>
              <a:srgbClr val="C2410C"/>
            </a:solidFill>
            <a:prstDash val="solid"/>
          </a:ln>
        </p:spPr>
      </p:sp>
      <p:sp>
        <p:nvSpPr>
          <p:cNvPr id="22" name="Shape 19"/>
          <p:cNvSpPr/>
          <p:nvPr/>
        </p:nvSpPr>
        <p:spPr>
          <a:xfrm>
            <a:off x="9936236" y="2011680"/>
            <a:ext cx="1706819" cy="1188720"/>
          </a:xfrm>
          <a:prstGeom prst="roundRect">
            <a:avLst>
              <a:gd name="adj" fmla="val 9231"/>
            </a:avLst>
          </a:prstGeom>
          <a:solidFill>
            <a:srgbClr val="14213D"/>
          </a:solidFill>
          <a:ln w="12700">
            <a:solidFill>
              <a:srgbClr val="14213D"/>
            </a:solidFill>
            <a:prstDash val="solid"/>
          </a:ln>
        </p:spPr>
      </p:sp>
      <p:sp>
        <p:nvSpPr>
          <p:cNvPr id="23" name="Text 20"/>
          <p:cNvSpPr txBox="1"/>
          <p:nvPr/>
        </p:nvSpPr>
        <p:spPr>
          <a:xfrm>
            <a:off x="10073396" y="2103120"/>
            <a:ext cx="1432499" cy="320040"/>
          </a:xfrm>
          <a:prstGeom prst="rect">
            <a:avLst/>
          </a:prstGeom>
          <a:noFill/>
          <a:ln/>
        </p:spPr>
        <p:txBody>
          <a:bodyPr wrap="square" lIns="0" tIns="0" rIns="0" bIns="0" rtlCol="0" anchor="ctr"/>
          <a:lstStyle/>
          <a:p>
            <a:pPr indent="0" marL="0">
              <a:buNone/>
            </a:pPr>
            <a:r>
              <a:rPr lang="en-US" sz="1400" b="1" dirty="0">
                <a:solidFill>
                  <a:srgbClr val="F28A5B"/>
                </a:solidFill>
              </a:rPr>
              <a:t>COMPLETED</a:t>
            </a:r>
            <a:endParaRPr lang="en-US" sz="1400" dirty="0"/>
          </a:p>
        </p:txBody>
      </p:sp>
      <p:sp>
        <p:nvSpPr>
          <p:cNvPr id="24" name="Text 21"/>
          <p:cNvSpPr txBox="1"/>
          <p:nvPr/>
        </p:nvSpPr>
        <p:spPr>
          <a:xfrm>
            <a:off x="10073396" y="2468880"/>
            <a:ext cx="1432499" cy="640080"/>
          </a:xfrm>
          <a:prstGeom prst="rect">
            <a:avLst/>
          </a:prstGeom>
          <a:noFill/>
          <a:ln/>
        </p:spPr>
        <p:txBody>
          <a:bodyPr wrap="square" lIns="0" tIns="0" rIns="0" bIns="0" rtlCol="0" anchor="t"/>
          <a:lstStyle/>
          <a:p>
            <a:pPr indent="0" marL="0">
              <a:buNone/>
            </a:pPr>
            <a:r>
              <a:rPr lang="en-US" sz="1800" b="1" dirty="0">
                <a:solidFill>
                  <a:srgbClr val="FFFFFF"/>
                </a:solidFill>
              </a:rPr>
              <a:t>Hoàn thành</a:t>
            </a:r>
            <a:endParaRPr lang="en-US" sz="1800" dirty="0"/>
          </a:p>
        </p:txBody>
      </p:sp>
      <p:sp>
        <p:nvSpPr>
          <p:cNvPr id="25" name="Shape 22"/>
          <p:cNvSpPr/>
          <p:nvPr/>
        </p:nvSpPr>
        <p:spPr>
          <a:xfrm>
            <a:off x="548640" y="3657600"/>
            <a:ext cx="3545738" cy="1554480"/>
          </a:xfrm>
          <a:prstGeom prst="roundRect">
            <a:avLst>
              <a:gd name="adj" fmla="val 7059"/>
            </a:avLst>
          </a:prstGeom>
          <a:solidFill>
            <a:srgbClr val="FFFFFF"/>
          </a:solidFill>
          <a:ln w="12700">
            <a:solidFill>
              <a:srgbClr val="D9DEE6"/>
            </a:solidFill>
            <a:prstDash val="dash"/>
          </a:ln>
        </p:spPr>
      </p:sp>
      <p:sp>
        <p:nvSpPr>
          <p:cNvPr id="26" name="Text 23"/>
          <p:cNvSpPr txBox="1"/>
          <p:nvPr/>
        </p:nvSpPr>
        <p:spPr>
          <a:xfrm>
            <a:off x="777240" y="3840480"/>
            <a:ext cx="3088538" cy="411480"/>
          </a:xfrm>
          <a:prstGeom prst="rect">
            <a:avLst/>
          </a:prstGeom>
          <a:noFill/>
          <a:ln/>
        </p:spPr>
        <p:txBody>
          <a:bodyPr wrap="square" lIns="0" tIns="0" rIns="0" bIns="0" rtlCol="0" anchor="t"/>
          <a:lstStyle/>
          <a:p>
            <a:pPr indent="0" marL="0">
              <a:buNone/>
            </a:pPr>
            <a:r>
              <a:rPr lang="en-US" sz="1800" b="1" dirty="0">
                <a:solidFill>
                  <a:srgbClr val="14213D"/>
                </a:solidFill>
              </a:rPr>
              <a:t>Từ chối (DECLINED)</a:t>
            </a:r>
            <a:endParaRPr lang="en-US" sz="1800" dirty="0"/>
          </a:p>
        </p:txBody>
      </p:sp>
      <p:sp>
        <p:nvSpPr>
          <p:cNvPr id="27" name="Text 24"/>
          <p:cNvSpPr txBox="1"/>
          <p:nvPr/>
        </p:nvSpPr>
        <p:spPr>
          <a:xfrm>
            <a:off x="777240" y="4297680"/>
            <a:ext cx="3088538" cy="777240"/>
          </a:xfrm>
          <a:prstGeom prst="rect">
            <a:avLst/>
          </a:prstGeom>
          <a:noFill/>
          <a:ln/>
        </p:spPr>
        <p:txBody>
          <a:bodyPr wrap="square" lIns="0" tIns="0" rIns="0" bIns="0" rtlCol="0" anchor="t"/>
          <a:lstStyle/>
          <a:p>
            <a:pPr indent="0" marL="0">
              <a:buNone/>
            </a:pPr>
            <a:r>
              <a:rPr lang="en-US" sz="1500" dirty="0">
                <a:solidFill>
                  <a:srgbClr val="3B4659"/>
                </a:solidFill>
              </a:rPr>
              <a:t>Đội không nhận lời mời; điều phối viên chọn đội khác.</a:t>
            </a:r>
            <a:endParaRPr lang="en-US" sz="1500" dirty="0"/>
          </a:p>
        </p:txBody>
      </p:sp>
      <p:sp>
        <p:nvSpPr>
          <p:cNvPr id="28" name="Shape 25"/>
          <p:cNvSpPr/>
          <p:nvPr/>
        </p:nvSpPr>
        <p:spPr>
          <a:xfrm>
            <a:off x="4322978" y="3657600"/>
            <a:ext cx="3545738" cy="1554480"/>
          </a:xfrm>
          <a:prstGeom prst="roundRect">
            <a:avLst>
              <a:gd name="adj" fmla="val 7059"/>
            </a:avLst>
          </a:prstGeom>
          <a:solidFill>
            <a:srgbClr val="FFFFFF"/>
          </a:solidFill>
          <a:ln w="12700">
            <a:solidFill>
              <a:srgbClr val="D9DEE6"/>
            </a:solidFill>
            <a:prstDash val="dash"/>
          </a:ln>
        </p:spPr>
      </p:sp>
      <p:sp>
        <p:nvSpPr>
          <p:cNvPr id="29" name="Text 26"/>
          <p:cNvSpPr txBox="1"/>
          <p:nvPr/>
        </p:nvSpPr>
        <p:spPr>
          <a:xfrm>
            <a:off x="4551578" y="3840480"/>
            <a:ext cx="3088538" cy="411480"/>
          </a:xfrm>
          <a:prstGeom prst="rect">
            <a:avLst/>
          </a:prstGeom>
          <a:noFill/>
          <a:ln/>
        </p:spPr>
        <p:txBody>
          <a:bodyPr wrap="square" lIns="0" tIns="0" rIns="0" bIns="0" rtlCol="0" anchor="t"/>
          <a:lstStyle/>
          <a:p>
            <a:pPr indent="0" marL="0">
              <a:buNone/>
            </a:pPr>
            <a:r>
              <a:rPr lang="en-US" sz="1800" b="1" dirty="0">
                <a:solidFill>
                  <a:srgbClr val="14213D"/>
                </a:solidFill>
              </a:rPr>
              <a:t>Thất bại (FAILED)</a:t>
            </a:r>
            <a:endParaRPr lang="en-US" sz="1800" dirty="0"/>
          </a:p>
        </p:txBody>
      </p:sp>
      <p:sp>
        <p:nvSpPr>
          <p:cNvPr id="30" name="Text 27"/>
          <p:cNvSpPr txBox="1"/>
          <p:nvPr/>
        </p:nvSpPr>
        <p:spPr>
          <a:xfrm>
            <a:off x="4551578" y="4297680"/>
            <a:ext cx="3088538" cy="777240"/>
          </a:xfrm>
          <a:prstGeom prst="rect">
            <a:avLst/>
          </a:prstGeom>
          <a:noFill/>
          <a:ln/>
        </p:spPr>
        <p:txBody>
          <a:bodyPr wrap="square" lIns="0" tIns="0" rIns="0" bIns="0" rtlCol="0" anchor="t"/>
          <a:lstStyle/>
          <a:p>
            <a:pPr indent="0" marL="0">
              <a:buNone/>
            </a:pPr>
            <a:r>
              <a:rPr lang="en-US" sz="1500" dirty="0">
                <a:solidFill>
                  <a:srgbClr val="3B4659"/>
                </a:solidFill>
              </a:rPr>
              <a:t>Xảy ra sau khi đã nhận, kèm lý do; yêu cầu vẫn mở.</a:t>
            </a:r>
            <a:endParaRPr lang="en-US" sz="1500" dirty="0"/>
          </a:p>
        </p:txBody>
      </p:sp>
      <p:sp>
        <p:nvSpPr>
          <p:cNvPr id="31" name="Shape 28"/>
          <p:cNvSpPr/>
          <p:nvPr/>
        </p:nvSpPr>
        <p:spPr>
          <a:xfrm>
            <a:off x="8097317" y="3657600"/>
            <a:ext cx="3545738" cy="1554480"/>
          </a:xfrm>
          <a:prstGeom prst="roundRect">
            <a:avLst>
              <a:gd name="adj" fmla="val 7059"/>
            </a:avLst>
          </a:prstGeom>
          <a:solidFill>
            <a:srgbClr val="FFFFFF"/>
          </a:solidFill>
          <a:ln w="12700">
            <a:solidFill>
              <a:srgbClr val="D9DEE6"/>
            </a:solidFill>
            <a:prstDash val="dash"/>
          </a:ln>
        </p:spPr>
      </p:sp>
      <p:sp>
        <p:nvSpPr>
          <p:cNvPr id="32" name="Text 29"/>
          <p:cNvSpPr txBox="1"/>
          <p:nvPr/>
        </p:nvSpPr>
        <p:spPr>
          <a:xfrm>
            <a:off x="8325917" y="3840480"/>
            <a:ext cx="3088538" cy="411480"/>
          </a:xfrm>
          <a:prstGeom prst="rect">
            <a:avLst/>
          </a:prstGeom>
          <a:noFill/>
          <a:ln/>
        </p:spPr>
        <p:txBody>
          <a:bodyPr wrap="square" lIns="0" tIns="0" rIns="0" bIns="0" rtlCol="0" anchor="t"/>
          <a:lstStyle/>
          <a:p>
            <a:pPr indent="0" marL="0">
              <a:buNone/>
            </a:pPr>
            <a:r>
              <a:rPr lang="en-US" sz="1800" b="1" dirty="0">
                <a:solidFill>
                  <a:srgbClr val="14213D"/>
                </a:solidFill>
              </a:rPr>
              <a:t>Hủy (CANCELLED)</a:t>
            </a:r>
            <a:endParaRPr lang="en-US" sz="1800" dirty="0"/>
          </a:p>
        </p:txBody>
      </p:sp>
      <p:sp>
        <p:nvSpPr>
          <p:cNvPr id="33" name="Text 30"/>
          <p:cNvSpPr txBox="1"/>
          <p:nvPr/>
        </p:nvSpPr>
        <p:spPr>
          <a:xfrm>
            <a:off x="8325917" y="4297680"/>
            <a:ext cx="3088538" cy="777240"/>
          </a:xfrm>
          <a:prstGeom prst="rect">
            <a:avLst/>
          </a:prstGeom>
          <a:noFill/>
          <a:ln/>
        </p:spPr>
        <p:txBody>
          <a:bodyPr wrap="square" lIns="0" tIns="0" rIns="0" bIns="0" rtlCol="0" anchor="t"/>
          <a:lstStyle/>
          <a:p>
            <a:pPr indent="0" marL="0">
              <a:buNone/>
            </a:pPr>
            <a:r>
              <a:rPr lang="en-US" sz="1500" dirty="0">
                <a:solidFill>
                  <a:srgbClr val="3B4659"/>
                </a:solidFill>
              </a:rPr>
              <a:t>Điều phối viên hủy kèm lý do; giao lại thì tạo nhiệm vụ mới.</a:t>
            </a:r>
            <a:endParaRPr lang="en-US" sz="1500" dirty="0"/>
          </a:p>
        </p:txBody>
      </p:sp>
      <p:sp>
        <p:nvSpPr>
          <p:cNvPr id="34" name="Text 31"/>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Mỗi nhiệm vụ gắn một đội với một yêu cầu; nhiều đội thì dùng nhiều nhiệm vụ riêng.</a:t>
            </a:r>
            <a:endParaRPr lang="en-US" sz="1200" dirty="0"/>
          </a:p>
        </p:txBody>
      </p:sp>
      <p:sp>
        <p:nvSpPr>
          <p:cNvPr id="35" name="Text 32"/>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F28A5B"/>
                </a:solidFill>
              </a:rPr>
              <a:t>LUỒNG 3 · BÁO CÁO TIẾN ĐỘ</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F4F6F9"/>
                </a:solidFill>
              </a:rPr>
              <a:t>Hai cách đội báo tiến độ nhiệm vụ</a:t>
            </a:r>
            <a:endParaRPr lang="en-US" sz="3200" dirty="0"/>
          </a:p>
        </p:txBody>
      </p:sp>
      <p:sp>
        <p:nvSpPr>
          <p:cNvPr id="6" name="Shape 3"/>
          <p:cNvSpPr/>
          <p:nvPr/>
        </p:nvSpPr>
        <p:spPr>
          <a:xfrm>
            <a:off x="548640" y="2011680"/>
            <a:ext cx="5432908" cy="2743200"/>
          </a:xfrm>
          <a:prstGeom prst="roundRect">
            <a:avLst>
              <a:gd name="adj" fmla="val 4000"/>
            </a:avLst>
          </a:prstGeom>
          <a:solidFill>
            <a:srgbClr val="1B2A42"/>
          </a:solidFill>
          <a:ln w="12700">
            <a:solidFill>
              <a:srgbClr val="2B3D5C"/>
            </a:solidFill>
            <a:prstDash val="solid"/>
          </a:ln>
        </p:spPr>
      </p:sp>
      <p:sp>
        <p:nvSpPr>
          <p:cNvPr id="7" name="Text 4"/>
          <p:cNvSpPr txBox="1"/>
          <p:nvPr/>
        </p:nvSpPr>
        <p:spPr>
          <a:xfrm>
            <a:off x="777240" y="2194560"/>
            <a:ext cx="4975708" cy="548640"/>
          </a:xfrm>
          <a:prstGeom prst="rect">
            <a:avLst/>
          </a:prstGeom>
          <a:noFill/>
          <a:ln/>
        </p:spPr>
        <p:txBody>
          <a:bodyPr wrap="square" lIns="0" tIns="0" rIns="0" bIns="0" rtlCol="0" anchor="t"/>
          <a:lstStyle/>
          <a:p>
            <a:pPr indent="0" marL="0">
              <a:buNone/>
            </a:pPr>
            <a:r>
              <a:rPr lang="en-US" sz="2200" b="1" dirty="0">
                <a:solidFill>
                  <a:srgbClr val="F4F6F9"/>
                </a:solidFill>
              </a:rPr>
              <a:t>Đội dùng ứng dụng</a:t>
            </a:r>
            <a:endParaRPr lang="en-US" sz="2200" dirty="0"/>
          </a:p>
        </p:txBody>
      </p:sp>
      <p:sp>
        <p:nvSpPr>
          <p:cNvPr id="8" name="Text 5"/>
          <p:cNvSpPr txBox="1"/>
          <p:nvPr/>
        </p:nvSpPr>
        <p:spPr>
          <a:xfrm>
            <a:off x="777240" y="2788920"/>
            <a:ext cx="4975708" cy="1828800"/>
          </a:xfrm>
          <a:prstGeom prst="rect">
            <a:avLst/>
          </a:prstGeom>
          <a:noFill/>
          <a:ln/>
        </p:spPr>
        <p:txBody>
          <a:bodyPr wrap="square" lIns="0" tIns="0" rIns="0" bIns="0" rtlCol="0" anchor="t"/>
          <a:lstStyle/>
          <a:p>
            <a:pPr indent="0" marL="0">
              <a:buNone/>
            </a:pPr>
            <a:r>
              <a:rPr lang="en-US" sz="1700" dirty="0">
                <a:solidFill>
                  <a:srgbClr val="B8C4D6"/>
                </a:solidFill>
              </a:rPr>
              <a:t>Trưởng đội đang hoạt động thao tác trực tiếp trên ứng dụng di động. Thành viên xem nhiệm vụ được giao. Có thể gửi vị trí tùy chọn và ảnh minh chứng.</a:t>
            </a:r>
            <a:endParaRPr lang="en-US" sz="1700" dirty="0"/>
          </a:p>
        </p:txBody>
      </p:sp>
      <p:sp>
        <p:nvSpPr>
          <p:cNvPr id="9" name="Shape 6"/>
          <p:cNvSpPr/>
          <p:nvPr/>
        </p:nvSpPr>
        <p:spPr>
          <a:xfrm>
            <a:off x="6210148" y="2011680"/>
            <a:ext cx="5432908" cy="2743200"/>
          </a:xfrm>
          <a:prstGeom prst="roundRect">
            <a:avLst>
              <a:gd name="adj" fmla="val 4000"/>
            </a:avLst>
          </a:prstGeom>
          <a:solidFill>
            <a:srgbClr val="1B2A42"/>
          </a:solidFill>
          <a:ln w="12700">
            <a:solidFill>
              <a:srgbClr val="2B3D5C"/>
            </a:solidFill>
            <a:prstDash val="solid"/>
          </a:ln>
        </p:spPr>
      </p:sp>
      <p:sp>
        <p:nvSpPr>
          <p:cNvPr id="10" name="Text 7"/>
          <p:cNvSpPr txBox="1"/>
          <p:nvPr/>
        </p:nvSpPr>
        <p:spPr>
          <a:xfrm>
            <a:off x="6438748" y="2194560"/>
            <a:ext cx="4975708" cy="548640"/>
          </a:xfrm>
          <a:prstGeom prst="rect">
            <a:avLst/>
          </a:prstGeom>
          <a:noFill/>
          <a:ln/>
        </p:spPr>
        <p:txBody>
          <a:bodyPr wrap="square" lIns="0" tIns="0" rIns="0" bIns="0" rtlCol="0" anchor="t"/>
          <a:lstStyle/>
          <a:p>
            <a:pPr indent="0" marL="0">
              <a:buNone/>
            </a:pPr>
            <a:r>
              <a:rPr lang="en-US" sz="2200" b="1" dirty="0">
                <a:solidFill>
                  <a:srgbClr val="F4F6F9"/>
                </a:solidFill>
              </a:rPr>
              <a:t>Đội không dùng ứng dụng</a:t>
            </a:r>
            <a:endParaRPr lang="en-US" sz="2200" dirty="0"/>
          </a:p>
        </p:txBody>
      </p:sp>
      <p:sp>
        <p:nvSpPr>
          <p:cNvPr id="11" name="Text 8"/>
          <p:cNvSpPr txBox="1"/>
          <p:nvPr/>
        </p:nvSpPr>
        <p:spPr>
          <a:xfrm>
            <a:off x="6438748" y="2788920"/>
            <a:ext cx="4975708" cy="1828800"/>
          </a:xfrm>
          <a:prstGeom prst="rect">
            <a:avLst/>
          </a:prstGeom>
          <a:noFill/>
          <a:ln/>
        </p:spPr>
        <p:txBody>
          <a:bodyPr wrap="square" lIns="0" tIns="0" rIns="0" bIns="0" rtlCol="0" anchor="t"/>
          <a:lstStyle/>
          <a:p>
            <a:pPr indent="0" marL="0">
              <a:buNone/>
            </a:pPr>
            <a:r>
              <a:rPr lang="en-US" sz="1700" dirty="0">
                <a:solidFill>
                  <a:srgbClr val="B8C4D6"/>
                </a:solidFill>
              </a:rPr>
              <a:t>Điều phối viên ghi thay khi đội báo qua radio, điện thoại hoặc trực tiếp. Bắt buộc ghi nguồn báo, người báo, lý do và thời điểm thực tế; giao diện hiện “Điều phối viên ghi thay”.</a:t>
            </a:r>
            <a:endParaRPr lang="en-US" sz="1700" dirty="0"/>
          </a:p>
        </p:txBody>
      </p:sp>
      <p:sp>
        <p:nvSpPr>
          <p:cNvPr id="12" name="Shape 9"/>
          <p:cNvSpPr/>
          <p:nvPr/>
        </p:nvSpPr>
        <p:spPr>
          <a:xfrm>
            <a:off x="548640" y="5212080"/>
            <a:ext cx="11094415" cy="731520"/>
          </a:xfrm>
          <a:prstGeom prst="roundRect">
            <a:avLst>
              <a:gd name="adj" fmla="val 15000"/>
            </a:avLst>
          </a:prstGeom>
          <a:solidFill>
            <a:srgbClr val="F28A5B"/>
          </a:solidFill>
          <a:ln w="12700">
            <a:solidFill>
              <a:srgbClr val="F28A5B"/>
            </a:solidFill>
            <a:prstDash val="solid"/>
          </a:ln>
        </p:spPr>
      </p:sp>
      <p:sp>
        <p:nvSpPr>
          <p:cNvPr id="13" name="Text 10"/>
          <p:cNvSpPr txBox="1"/>
          <p:nvPr/>
        </p:nvSpPr>
        <p:spPr>
          <a:xfrm>
            <a:off x="822960" y="5212080"/>
            <a:ext cx="10545775" cy="731520"/>
          </a:xfrm>
          <a:prstGeom prst="rect">
            <a:avLst/>
          </a:prstGeom>
          <a:noFill/>
          <a:ln/>
        </p:spPr>
        <p:txBody>
          <a:bodyPr wrap="square" lIns="0" tIns="0" rIns="0" bIns="0" rtlCol="0" anchor="ctr"/>
          <a:lstStyle/>
          <a:p>
            <a:pPr indent="0" marL="0">
              <a:buNone/>
            </a:pPr>
            <a:r>
              <a:rPr lang="en-US" sz="1800" b="1" dirty="0">
                <a:solidFill>
                  <a:srgbClr val="0F1B2D"/>
                </a:solidFill>
              </a:rPr>
              <a:t>Hoàn thành nhiệm vụ không tự đóng yêu cầu: điều phối viên xem bằng chứng rồi mới xác nhận giải quyết.</a:t>
            </a:r>
            <a:endParaRPr lang="en-US" sz="1800" dirty="0"/>
          </a:p>
        </p:txBody>
      </p:sp>
      <p:sp>
        <p:nvSpPr>
          <p:cNvPr id="14" name="Text 11"/>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9AA8BD"/>
                </a:solidFill>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LUỒNG 4 · TÙY CHỌN · NGƯỜI DÂN VÀ KHO</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Quyên góp vật phẩm có kiểm đếm độc lập</a:t>
            </a:r>
            <a:endParaRPr lang="en-US" sz="3200" dirty="0"/>
          </a:p>
        </p:txBody>
      </p:sp>
      <p:sp>
        <p:nvSpPr>
          <p:cNvPr id="6" name="Shape 3"/>
          <p:cNvSpPr/>
          <p:nvPr/>
        </p:nvSpPr>
        <p:spPr>
          <a:xfrm>
            <a:off x="548640" y="1554480"/>
            <a:ext cx="3545738" cy="1645920"/>
          </a:xfrm>
          <a:prstGeom prst="roundRect">
            <a:avLst>
              <a:gd name="adj" fmla="val 6667"/>
            </a:avLst>
          </a:prstGeom>
          <a:solidFill>
            <a:srgbClr val="FFFFFF"/>
          </a:solidFill>
          <a:ln w="12700">
            <a:solidFill>
              <a:srgbClr val="D9DEE6"/>
            </a:solidFill>
            <a:prstDash val="solid"/>
          </a:ln>
        </p:spPr>
      </p:sp>
      <p:sp>
        <p:nvSpPr>
          <p:cNvPr id="7" name="Text 4"/>
          <p:cNvSpPr txBox="1"/>
          <p:nvPr/>
        </p:nvSpPr>
        <p:spPr>
          <a:xfrm>
            <a:off x="777240" y="173736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1</a:t>
            </a:r>
            <a:endParaRPr lang="en-US" sz="1400" dirty="0"/>
          </a:p>
        </p:txBody>
      </p:sp>
      <p:sp>
        <p:nvSpPr>
          <p:cNvPr id="8" name="Text 5"/>
          <p:cNvSpPr txBox="1"/>
          <p:nvPr/>
        </p:nvSpPr>
        <p:spPr>
          <a:xfrm>
            <a:off x="777240" y="205740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Mở đợt quyên góp</a:t>
            </a:r>
            <a:endParaRPr lang="en-US" sz="2000" dirty="0"/>
          </a:p>
        </p:txBody>
      </p:sp>
      <p:sp>
        <p:nvSpPr>
          <p:cNvPr id="9" name="Text 6"/>
          <p:cNvSpPr txBox="1"/>
          <p:nvPr/>
        </p:nvSpPr>
        <p:spPr>
          <a:xfrm>
            <a:off x="777240" y="2514600"/>
            <a:ext cx="3088538" cy="548640"/>
          </a:xfrm>
          <a:prstGeom prst="rect">
            <a:avLst/>
          </a:prstGeom>
          <a:noFill/>
          <a:ln/>
        </p:spPr>
        <p:txBody>
          <a:bodyPr wrap="square" lIns="0" tIns="0" rIns="0" bIns="0" rtlCol="0" anchor="t"/>
          <a:lstStyle/>
          <a:p>
            <a:pPr indent="0" marL="0">
              <a:buNone/>
            </a:pPr>
            <a:r>
              <a:rPr lang="en-US" sz="1400" dirty="0">
                <a:solidFill>
                  <a:srgbClr val="3B4659"/>
                </a:solidFill>
              </a:rPr>
              <a:t>Quản lý kho công bố danh mục vật phẩm cần nhận và điểm nhận.</a:t>
            </a:r>
            <a:endParaRPr lang="en-US" sz="1400" dirty="0"/>
          </a:p>
        </p:txBody>
      </p:sp>
      <p:sp>
        <p:nvSpPr>
          <p:cNvPr id="10" name="Shape 7"/>
          <p:cNvSpPr/>
          <p:nvPr/>
        </p:nvSpPr>
        <p:spPr>
          <a:xfrm>
            <a:off x="4322978" y="1554480"/>
            <a:ext cx="3545738" cy="1645920"/>
          </a:xfrm>
          <a:prstGeom prst="roundRect">
            <a:avLst>
              <a:gd name="adj" fmla="val 6667"/>
            </a:avLst>
          </a:prstGeom>
          <a:solidFill>
            <a:srgbClr val="FFFFFF"/>
          </a:solidFill>
          <a:ln w="12700">
            <a:solidFill>
              <a:srgbClr val="D9DEE6"/>
            </a:solidFill>
            <a:prstDash val="solid"/>
          </a:ln>
        </p:spPr>
      </p:sp>
      <p:sp>
        <p:nvSpPr>
          <p:cNvPr id="11" name="Text 8"/>
          <p:cNvSpPr txBox="1"/>
          <p:nvPr/>
        </p:nvSpPr>
        <p:spPr>
          <a:xfrm>
            <a:off x="4551578" y="173736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2</a:t>
            </a:r>
            <a:endParaRPr lang="en-US" sz="1400" dirty="0"/>
          </a:p>
        </p:txBody>
      </p:sp>
      <p:sp>
        <p:nvSpPr>
          <p:cNvPr id="12" name="Text 9"/>
          <p:cNvSpPr txBox="1"/>
          <p:nvPr/>
        </p:nvSpPr>
        <p:spPr>
          <a:xfrm>
            <a:off x="4551578" y="205740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Khai báo</a:t>
            </a:r>
            <a:endParaRPr lang="en-US" sz="2000" dirty="0"/>
          </a:p>
        </p:txBody>
      </p:sp>
      <p:sp>
        <p:nvSpPr>
          <p:cNvPr id="13" name="Text 10"/>
          <p:cNvSpPr txBox="1"/>
          <p:nvPr/>
        </p:nvSpPr>
        <p:spPr>
          <a:xfrm>
            <a:off x="4551578" y="2514600"/>
            <a:ext cx="3088538" cy="548640"/>
          </a:xfrm>
          <a:prstGeom prst="rect">
            <a:avLst/>
          </a:prstGeom>
          <a:noFill/>
          <a:ln/>
        </p:spPr>
        <p:txBody>
          <a:bodyPr wrap="square" lIns="0" tIns="0" rIns="0" bIns="0" rtlCol="0" anchor="t"/>
          <a:lstStyle/>
          <a:p>
            <a:pPr indent="0" marL="0">
              <a:buNone/>
            </a:pPr>
            <a:r>
              <a:rPr lang="en-US" sz="1400" dirty="0">
                <a:solidFill>
                  <a:srgbClr val="3B4659"/>
                </a:solidFill>
              </a:rPr>
              <a:t>Người dân, kể cả khách, để lại tên, số điện thoại và vật phẩm đã trao.</a:t>
            </a:r>
            <a:endParaRPr lang="en-US" sz="1400" dirty="0"/>
          </a:p>
        </p:txBody>
      </p:sp>
      <p:sp>
        <p:nvSpPr>
          <p:cNvPr id="14" name="Shape 11"/>
          <p:cNvSpPr/>
          <p:nvPr/>
        </p:nvSpPr>
        <p:spPr>
          <a:xfrm>
            <a:off x="8097317" y="1554480"/>
            <a:ext cx="3545738" cy="1645920"/>
          </a:xfrm>
          <a:prstGeom prst="roundRect">
            <a:avLst>
              <a:gd name="adj" fmla="val 6667"/>
            </a:avLst>
          </a:prstGeom>
          <a:solidFill>
            <a:srgbClr val="FFFFFF"/>
          </a:solidFill>
          <a:ln w="12700">
            <a:solidFill>
              <a:srgbClr val="D9DEE6"/>
            </a:solidFill>
            <a:prstDash val="solid"/>
          </a:ln>
        </p:spPr>
      </p:sp>
      <p:sp>
        <p:nvSpPr>
          <p:cNvPr id="15" name="Text 12"/>
          <p:cNvSpPr txBox="1"/>
          <p:nvPr/>
        </p:nvSpPr>
        <p:spPr>
          <a:xfrm>
            <a:off x="8325917" y="173736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3</a:t>
            </a:r>
            <a:endParaRPr lang="en-US" sz="1400" dirty="0"/>
          </a:p>
        </p:txBody>
      </p:sp>
      <p:sp>
        <p:nvSpPr>
          <p:cNvPr id="16" name="Text 13"/>
          <p:cNvSpPr txBox="1"/>
          <p:nvPr/>
        </p:nvSpPr>
        <p:spPr>
          <a:xfrm>
            <a:off x="8325917" y="205740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Kiểm đếm</a:t>
            </a:r>
            <a:endParaRPr lang="en-US" sz="2000" dirty="0"/>
          </a:p>
        </p:txBody>
      </p:sp>
      <p:sp>
        <p:nvSpPr>
          <p:cNvPr id="17" name="Text 14"/>
          <p:cNvSpPr txBox="1"/>
          <p:nvPr/>
        </p:nvSpPr>
        <p:spPr>
          <a:xfrm>
            <a:off x="8325917" y="2514600"/>
            <a:ext cx="3088538" cy="548640"/>
          </a:xfrm>
          <a:prstGeom prst="rect">
            <a:avLst/>
          </a:prstGeom>
          <a:noFill/>
          <a:ln/>
        </p:spPr>
        <p:txBody>
          <a:bodyPr wrap="square" lIns="0" tIns="0" rIns="0" bIns="0" rtlCol="0" anchor="t"/>
          <a:lstStyle/>
          <a:p>
            <a:pPr indent="0" marL="0">
              <a:buNone/>
            </a:pPr>
            <a:r>
              <a:rPr lang="en-US" sz="1400" dirty="0">
                <a:solidFill>
                  <a:srgbClr val="3B4659"/>
                </a:solidFill>
              </a:rPr>
              <a:t>Nhân viên kho đếm và kiểm tra thực tế, độc lập với lời khai.</a:t>
            </a:r>
            <a:endParaRPr lang="en-US" sz="1400" dirty="0"/>
          </a:p>
        </p:txBody>
      </p:sp>
      <p:sp>
        <p:nvSpPr>
          <p:cNvPr id="18" name="Shape 15"/>
          <p:cNvSpPr/>
          <p:nvPr/>
        </p:nvSpPr>
        <p:spPr>
          <a:xfrm>
            <a:off x="548640" y="3429000"/>
            <a:ext cx="3545738" cy="1645920"/>
          </a:xfrm>
          <a:prstGeom prst="roundRect">
            <a:avLst>
              <a:gd name="adj" fmla="val 6667"/>
            </a:avLst>
          </a:prstGeom>
          <a:solidFill>
            <a:srgbClr val="FFFFFF"/>
          </a:solidFill>
          <a:ln w="12700">
            <a:solidFill>
              <a:srgbClr val="D9DEE6"/>
            </a:solidFill>
            <a:prstDash val="solid"/>
          </a:ln>
        </p:spPr>
      </p:sp>
      <p:sp>
        <p:nvSpPr>
          <p:cNvPr id="19" name="Text 16"/>
          <p:cNvSpPr txBox="1"/>
          <p:nvPr/>
        </p:nvSpPr>
        <p:spPr>
          <a:xfrm>
            <a:off x="777240" y="361188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4</a:t>
            </a:r>
            <a:endParaRPr lang="en-US" sz="1400" dirty="0"/>
          </a:p>
        </p:txBody>
      </p:sp>
      <p:sp>
        <p:nvSpPr>
          <p:cNvPr id="20" name="Text 17"/>
          <p:cNvSpPr txBox="1"/>
          <p:nvPr/>
        </p:nvSpPr>
        <p:spPr>
          <a:xfrm>
            <a:off x="777240" y="393192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Duyệt độc lập</a:t>
            </a:r>
            <a:endParaRPr lang="en-US" sz="2000" dirty="0"/>
          </a:p>
        </p:txBody>
      </p:sp>
      <p:sp>
        <p:nvSpPr>
          <p:cNvPr id="21" name="Text 18"/>
          <p:cNvSpPr txBox="1"/>
          <p:nvPr/>
        </p:nvSpPr>
        <p:spPr>
          <a:xfrm>
            <a:off x="777240" y="4389120"/>
            <a:ext cx="3088538" cy="548640"/>
          </a:xfrm>
          <a:prstGeom prst="rect">
            <a:avLst/>
          </a:prstGeom>
          <a:noFill/>
          <a:ln/>
        </p:spPr>
        <p:txBody>
          <a:bodyPr wrap="square" lIns="0" tIns="0" rIns="0" bIns="0" rtlCol="0" anchor="t"/>
          <a:lstStyle/>
          <a:p>
            <a:pPr indent="0" marL="0">
              <a:buNone/>
            </a:pPr>
            <a:r>
              <a:rPr lang="en-US" sz="1400" dirty="0">
                <a:solidFill>
                  <a:srgbClr val="3B4659"/>
                </a:solidFill>
              </a:rPr>
              <a:t>Một người khác duyệt đúng số lượng đã đếm.</a:t>
            </a:r>
            <a:endParaRPr lang="en-US" sz="1400" dirty="0"/>
          </a:p>
        </p:txBody>
      </p:sp>
      <p:sp>
        <p:nvSpPr>
          <p:cNvPr id="22" name="Shape 19"/>
          <p:cNvSpPr/>
          <p:nvPr/>
        </p:nvSpPr>
        <p:spPr>
          <a:xfrm>
            <a:off x="4322978" y="3429000"/>
            <a:ext cx="3545738" cy="1645920"/>
          </a:xfrm>
          <a:prstGeom prst="roundRect">
            <a:avLst>
              <a:gd name="adj" fmla="val 6667"/>
            </a:avLst>
          </a:prstGeom>
          <a:solidFill>
            <a:srgbClr val="FFFFFF"/>
          </a:solidFill>
          <a:ln w="12700">
            <a:solidFill>
              <a:srgbClr val="D9DEE6"/>
            </a:solidFill>
            <a:prstDash val="solid"/>
          </a:ln>
        </p:spPr>
      </p:sp>
      <p:sp>
        <p:nvSpPr>
          <p:cNvPr id="23" name="Text 20"/>
          <p:cNvSpPr txBox="1"/>
          <p:nvPr/>
        </p:nvSpPr>
        <p:spPr>
          <a:xfrm>
            <a:off x="4551578" y="361188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5</a:t>
            </a:r>
            <a:endParaRPr lang="en-US" sz="1400" dirty="0"/>
          </a:p>
        </p:txBody>
      </p:sp>
      <p:sp>
        <p:nvSpPr>
          <p:cNvPr id="24" name="Text 21"/>
          <p:cNvSpPr txBox="1"/>
          <p:nvPr/>
        </p:nvSpPr>
        <p:spPr>
          <a:xfrm>
            <a:off x="4551578" y="393192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Ghi kho</a:t>
            </a:r>
            <a:endParaRPr lang="en-US" sz="2000" dirty="0"/>
          </a:p>
        </p:txBody>
      </p:sp>
      <p:sp>
        <p:nvSpPr>
          <p:cNvPr id="25" name="Text 22"/>
          <p:cNvSpPr txBox="1"/>
          <p:nvPr/>
        </p:nvSpPr>
        <p:spPr>
          <a:xfrm>
            <a:off x="4551578" y="4389120"/>
            <a:ext cx="3088538" cy="548640"/>
          </a:xfrm>
          <a:prstGeom prst="rect">
            <a:avLst/>
          </a:prstGeom>
          <a:noFill/>
          <a:ln/>
        </p:spPr>
        <p:txBody>
          <a:bodyPr wrap="square" lIns="0" tIns="0" rIns="0" bIns="0" rtlCol="0" anchor="t"/>
          <a:lstStyle/>
          <a:p>
            <a:pPr indent="0" marL="0">
              <a:buNone/>
            </a:pPr>
            <a:r>
              <a:rPr lang="en-US" sz="1400" dirty="0">
                <a:solidFill>
                  <a:srgbClr val="3B4659"/>
                </a:solidFill>
              </a:rPr>
              <a:t>Hàng được duyệt nhập kho đúng một lần, có lịch sử biến động.</a:t>
            </a:r>
            <a:endParaRPr lang="en-US" sz="1400" dirty="0"/>
          </a:p>
        </p:txBody>
      </p:sp>
      <p:sp>
        <p:nvSpPr>
          <p:cNvPr id="26" name="Shape 23"/>
          <p:cNvSpPr/>
          <p:nvPr/>
        </p:nvSpPr>
        <p:spPr>
          <a:xfrm>
            <a:off x="8097317" y="3429000"/>
            <a:ext cx="3545738" cy="1645920"/>
          </a:xfrm>
          <a:prstGeom prst="roundRect">
            <a:avLst>
              <a:gd name="adj" fmla="val 6667"/>
            </a:avLst>
          </a:prstGeom>
          <a:solidFill>
            <a:srgbClr val="FFFFFF"/>
          </a:solidFill>
          <a:ln w="12700">
            <a:solidFill>
              <a:srgbClr val="D9DEE6"/>
            </a:solidFill>
            <a:prstDash val="solid"/>
          </a:ln>
        </p:spPr>
      </p:sp>
      <p:sp>
        <p:nvSpPr>
          <p:cNvPr id="27" name="Text 24"/>
          <p:cNvSpPr txBox="1"/>
          <p:nvPr/>
        </p:nvSpPr>
        <p:spPr>
          <a:xfrm>
            <a:off x="8325917" y="3611880"/>
            <a:ext cx="3088538" cy="274320"/>
          </a:xfrm>
          <a:prstGeom prst="rect">
            <a:avLst/>
          </a:prstGeom>
          <a:noFill/>
          <a:ln/>
        </p:spPr>
        <p:txBody>
          <a:bodyPr wrap="square" lIns="0" tIns="0" rIns="0" bIns="0" rtlCol="0" anchor="ctr"/>
          <a:lstStyle/>
          <a:p>
            <a:pPr indent="0" marL="0">
              <a:buNone/>
            </a:pPr>
            <a:r>
              <a:rPr lang="en-US" sz="1400" b="1" dirty="0">
                <a:solidFill>
                  <a:srgbClr val="C2410C"/>
                </a:solidFill>
              </a:rPr>
              <a:t>6</a:t>
            </a:r>
            <a:endParaRPr lang="en-US" sz="1400" dirty="0"/>
          </a:p>
        </p:txBody>
      </p:sp>
      <p:sp>
        <p:nvSpPr>
          <p:cNvPr id="28" name="Text 25"/>
          <p:cNvSpPr txBox="1"/>
          <p:nvPr/>
        </p:nvSpPr>
        <p:spPr>
          <a:xfrm>
            <a:off x="8325917" y="3931920"/>
            <a:ext cx="3088538" cy="411480"/>
          </a:xfrm>
          <a:prstGeom prst="rect">
            <a:avLst/>
          </a:prstGeom>
          <a:noFill/>
          <a:ln/>
        </p:spPr>
        <p:txBody>
          <a:bodyPr wrap="square" lIns="0" tIns="0" rIns="0" bIns="0" rtlCol="0" anchor="t"/>
          <a:lstStyle/>
          <a:p>
            <a:pPr indent="0" marL="0">
              <a:buNone/>
            </a:pPr>
            <a:r>
              <a:rPr lang="en-US" sz="2000" b="1" dirty="0">
                <a:solidFill>
                  <a:srgbClr val="14213D"/>
                </a:solidFill>
              </a:rPr>
              <a:t>Cấp phát</a:t>
            </a:r>
            <a:endParaRPr lang="en-US" sz="2000" dirty="0"/>
          </a:p>
        </p:txBody>
      </p:sp>
      <p:sp>
        <p:nvSpPr>
          <p:cNvPr id="29" name="Text 26"/>
          <p:cNvSpPr txBox="1"/>
          <p:nvPr/>
        </p:nvSpPr>
        <p:spPr>
          <a:xfrm>
            <a:off x="8325917" y="4389120"/>
            <a:ext cx="3088538" cy="548640"/>
          </a:xfrm>
          <a:prstGeom prst="rect">
            <a:avLst/>
          </a:prstGeom>
          <a:noFill/>
          <a:ln/>
        </p:spPr>
        <p:txBody>
          <a:bodyPr wrap="square" lIns="0" tIns="0" rIns="0" bIns="0" rtlCol="0" anchor="t"/>
          <a:lstStyle/>
          <a:p>
            <a:pPr indent="0" marL="0">
              <a:buNone/>
            </a:pPr>
            <a:r>
              <a:rPr lang="en-US" sz="1400" dirty="0">
                <a:solidFill>
                  <a:srgbClr val="3B4659"/>
                </a:solidFill>
              </a:rPr>
              <a:t>Duyệt, xuất kho và bàn giao; người quyên góp nhận biên nhận riêng tư.</a:t>
            </a:r>
            <a:endParaRPr lang="en-US" sz="1400" dirty="0"/>
          </a:p>
        </p:txBody>
      </p:sp>
      <p:sp>
        <p:nvSpPr>
          <p:cNvPr id="30" name="Text 27"/>
          <p:cNvSpPr txBox="1"/>
          <p:nvPr/>
        </p:nvSpPr>
        <p:spPr>
          <a:xfrm>
            <a:off x="548640" y="5394960"/>
            <a:ext cx="11094415" cy="548640"/>
          </a:xfrm>
          <a:prstGeom prst="rect">
            <a:avLst/>
          </a:prstGeom>
          <a:noFill/>
          <a:ln/>
        </p:spPr>
        <p:txBody>
          <a:bodyPr wrap="square" lIns="0" tIns="0" rIns="0" bIns="0" rtlCol="0" anchor="ctr"/>
          <a:lstStyle/>
          <a:p>
            <a:pPr indent="0" marL="0">
              <a:buNone/>
            </a:pPr>
            <a:r>
              <a:rPr lang="en-US" sz="1600" dirty="0">
                <a:solidFill>
                  <a:srgbClr val="3B4659"/>
                </a:solidFill>
              </a:rPr>
              <a:t>Chỉ quyên góp hiện vật, không thu tiền. Chênh lệch giữa khai báo và kiểm đếm được lưu để đối chiếu.</a:t>
            </a:r>
            <a:endParaRPr lang="en-US" sz="1600" dirty="0"/>
          </a:p>
        </p:txBody>
      </p:sp>
      <p:sp>
        <p:nvSpPr>
          <p:cNvPr id="31" name="Text 28"/>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Reliva · Luồng 4 · Phần hỗ trợ, demo ngắn</a:t>
            </a:r>
            <a:endParaRPr lang="en-US" sz="1200" dirty="0"/>
          </a:p>
        </p:txBody>
      </p:sp>
      <p:sp>
        <p:nvSpPr>
          <p:cNvPr id="32" name="Text 29"/>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2194560"/>
            <a:ext cx="11094415" cy="365760"/>
          </a:xfrm>
          <a:prstGeom prst="rect">
            <a:avLst/>
          </a:prstGeom>
          <a:noFill/>
          <a:ln/>
        </p:spPr>
        <p:txBody>
          <a:bodyPr wrap="square" lIns="0" tIns="0" rIns="0" bIns="0" rtlCol="0" anchor="ctr"/>
          <a:lstStyle/>
          <a:p>
            <a:pPr indent="0" marL="0">
              <a:buNone/>
            </a:pPr>
            <a:r>
              <a:rPr lang="en-US" sz="1600" b="1" spc="300" kern="0" dirty="0">
                <a:solidFill>
                  <a:srgbClr val="FFFFFF"/>
                </a:solidFill>
              </a:rPr>
              <a:t>PHẦN KỸ THUẬT</a:t>
            </a:r>
            <a:endParaRPr lang="en-US" sz="1600" dirty="0"/>
          </a:p>
        </p:txBody>
      </p:sp>
      <p:sp>
        <p:nvSpPr>
          <p:cNvPr id="5" name="Text 2"/>
          <p:cNvSpPr txBox="1"/>
          <p:nvPr/>
        </p:nvSpPr>
        <p:spPr>
          <a:xfrm>
            <a:off x="548640" y="2651760"/>
            <a:ext cx="11094415" cy="1371600"/>
          </a:xfrm>
          <a:prstGeom prst="rect">
            <a:avLst/>
          </a:prstGeom>
          <a:noFill/>
          <a:ln/>
        </p:spPr>
        <p:txBody>
          <a:bodyPr wrap="square" lIns="0" tIns="0" rIns="0" bIns="0" rtlCol="0" anchor="ctr"/>
          <a:lstStyle/>
          <a:p>
            <a:pPr indent="0" marL="0">
              <a:buNone/>
            </a:pPr>
            <a:r>
              <a:rPr lang="en-US" sz="7200" b="1" dirty="0">
                <a:solidFill>
                  <a:srgbClr val="FFFFFF"/>
                </a:solidFill>
              </a:rPr>
              <a:t>Kỹ thuật</a:t>
            </a:r>
            <a:endParaRPr lang="en-US" sz="7200" dirty="0"/>
          </a:p>
        </p:txBody>
      </p:sp>
      <p:sp>
        <p:nvSpPr>
          <p:cNvPr id="6" name="Text 3"/>
          <p:cNvSpPr txBox="1"/>
          <p:nvPr/>
        </p:nvSpPr>
        <p:spPr>
          <a:xfrm>
            <a:off x="548640" y="4114800"/>
            <a:ext cx="11094415" cy="548640"/>
          </a:xfrm>
          <a:prstGeom prst="rect">
            <a:avLst/>
          </a:prstGeom>
          <a:noFill/>
          <a:ln/>
        </p:spPr>
        <p:txBody>
          <a:bodyPr wrap="square" lIns="0" tIns="0" rIns="0" bIns="0" rtlCol="0" anchor="ctr"/>
          <a:lstStyle/>
          <a:p>
            <a:pPr indent="0" marL="0">
              <a:buNone/>
            </a:pPr>
            <a:r>
              <a:rPr lang="en-US" sz="2400" b="1" dirty="0">
                <a:solidFill>
                  <a:srgbClr val="FFFFFF"/>
                </a:solidFill>
              </a:rPr>
              <a:t>Kiến trúc, công nghệ, toàn vẹn dữ liệu, bảo mật và triển khai</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KỸ THUẬT · KIẾN TRÚC</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Ba dịch vụ NestJS, mỗi dịch vụ một cơ sở dữ liệu</a:t>
            </a:r>
            <a:endParaRPr lang="en-US" sz="3200" dirty="0"/>
          </a:p>
        </p:txBody>
      </p:sp>
      <p:sp>
        <p:nvSpPr>
          <p:cNvPr id="6" name="Shape 3"/>
          <p:cNvSpPr/>
          <p:nvPr/>
        </p:nvSpPr>
        <p:spPr>
          <a:xfrm>
            <a:off x="548640" y="1737360"/>
            <a:ext cx="5432908" cy="502920"/>
          </a:xfrm>
          <a:prstGeom prst="roundRect">
            <a:avLst>
              <a:gd name="adj" fmla="val 18182"/>
            </a:avLst>
          </a:prstGeom>
          <a:solidFill>
            <a:srgbClr val="FFFFFF"/>
          </a:solidFill>
          <a:ln w="12700">
            <a:solidFill>
              <a:srgbClr val="D9DEE6"/>
            </a:solidFill>
            <a:prstDash val="solid"/>
          </a:ln>
        </p:spPr>
      </p:sp>
      <p:sp>
        <p:nvSpPr>
          <p:cNvPr id="7" name="Text 4"/>
          <p:cNvSpPr txBox="1"/>
          <p:nvPr/>
        </p:nvSpPr>
        <p:spPr>
          <a:xfrm>
            <a:off x="731520" y="1737360"/>
            <a:ext cx="5067148" cy="502920"/>
          </a:xfrm>
          <a:prstGeom prst="rect">
            <a:avLst/>
          </a:prstGeom>
          <a:noFill/>
          <a:ln/>
        </p:spPr>
        <p:txBody>
          <a:bodyPr wrap="square" lIns="0" tIns="0" rIns="0" bIns="0" rtlCol="0" anchor="ctr"/>
          <a:lstStyle/>
          <a:p>
            <a:pPr indent="0" marL="0">
              <a:buNone/>
            </a:pPr>
            <a:r>
              <a:rPr lang="en-US" sz="1600" b="1" dirty="0">
                <a:solidFill>
                  <a:srgbClr val="14213D"/>
                </a:solidFill>
              </a:rPr>
              <a:t>Web · React + Vite</a:t>
            </a:r>
            <a:endParaRPr lang="en-US" sz="1600" dirty="0"/>
          </a:p>
        </p:txBody>
      </p:sp>
      <p:sp>
        <p:nvSpPr>
          <p:cNvPr id="8" name="Shape 5"/>
          <p:cNvSpPr/>
          <p:nvPr/>
        </p:nvSpPr>
        <p:spPr>
          <a:xfrm>
            <a:off x="6210148" y="1737360"/>
            <a:ext cx="5432908" cy="502920"/>
          </a:xfrm>
          <a:prstGeom prst="roundRect">
            <a:avLst>
              <a:gd name="adj" fmla="val 18182"/>
            </a:avLst>
          </a:prstGeom>
          <a:solidFill>
            <a:srgbClr val="FFFFFF"/>
          </a:solidFill>
          <a:ln w="12700">
            <a:solidFill>
              <a:srgbClr val="D9DEE6"/>
            </a:solidFill>
            <a:prstDash val="solid"/>
          </a:ln>
        </p:spPr>
      </p:sp>
      <p:sp>
        <p:nvSpPr>
          <p:cNvPr id="9" name="Text 6"/>
          <p:cNvSpPr txBox="1"/>
          <p:nvPr/>
        </p:nvSpPr>
        <p:spPr>
          <a:xfrm>
            <a:off x="6393028" y="1737360"/>
            <a:ext cx="5067148" cy="502920"/>
          </a:xfrm>
          <a:prstGeom prst="rect">
            <a:avLst/>
          </a:prstGeom>
          <a:noFill/>
          <a:ln/>
        </p:spPr>
        <p:txBody>
          <a:bodyPr wrap="square" lIns="0" tIns="0" rIns="0" bIns="0" rtlCol="0" anchor="ctr"/>
          <a:lstStyle/>
          <a:p>
            <a:pPr indent="0" marL="0">
              <a:buNone/>
            </a:pPr>
            <a:r>
              <a:rPr lang="en-US" sz="1600" b="1" dirty="0">
                <a:solidFill>
                  <a:srgbClr val="14213D"/>
                </a:solidFill>
              </a:rPr>
              <a:t>Mobile · React Native + Expo</a:t>
            </a:r>
            <a:endParaRPr lang="en-US" sz="1600" dirty="0"/>
          </a:p>
        </p:txBody>
      </p:sp>
      <p:sp>
        <p:nvSpPr>
          <p:cNvPr id="10" name="Shape 7"/>
          <p:cNvSpPr/>
          <p:nvPr/>
        </p:nvSpPr>
        <p:spPr>
          <a:xfrm>
            <a:off x="548640" y="2377440"/>
            <a:ext cx="11094415" cy="502920"/>
          </a:xfrm>
          <a:prstGeom prst="roundRect">
            <a:avLst>
              <a:gd name="adj" fmla="val 18182"/>
            </a:avLst>
          </a:prstGeom>
          <a:solidFill>
            <a:srgbClr val="14213D"/>
          </a:solidFill>
          <a:ln w="12700">
            <a:solidFill>
              <a:srgbClr val="14213D"/>
            </a:solidFill>
            <a:prstDash val="solid"/>
          </a:ln>
        </p:spPr>
      </p:sp>
      <p:sp>
        <p:nvSpPr>
          <p:cNvPr id="11" name="Text 8"/>
          <p:cNvSpPr txBox="1"/>
          <p:nvPr/>
        </p:nvSpPr>
        <p:spPr>
          <a:xfrm>
            <a:off x="731520" y="2377440"/>
            <a:ext cx="10728655" cy="502920"/>
          </a:xfrm>
          <a:prstGeom prst="rect">
            <a:avLst/>
          </a:prstGeom>
          <a:noFill/>
          <a:ln/>
        </p:spPr>
        <p:txBody>
          <a:bodyPr wrap="square" lIns="0" tIns="0" rIns="0" bIns="0" rtlCol="0" anchor="ctr"/>
          <a:lstStyle/>
          <a:p>
            <a:pPr indent="0" marL="0">
              <a:buNone/>
            </a:pPr>
            <a:r>
              <a:rPr lang="en-US" sz="1600" b="1" dirty="0">
                <a:solidFill>
                  <a:srgbClr val="FFFFFF"/>
                </a:solidFill>
              </a:rPr>
              <a:t>Nginx · cổng API công khai (REST/JSON)</a:t>
            </a:r>
            <a:endParaRPr lang="en-US" sz="1600" dirty="0"/>
          </a:p>
        </p:txBody>
      </p:sp>
      <p:sp>
        <p:nvSpPr>
          <p:cNvPr id="12" name="Shape 9"/>
          <p:cNvSpPr/>
          <p:nvPr/>
        </p:nvSpPr>
        <p:spPr>
          <a:xfrm>
            <a:off x="548640" y="3108960"/>
            <a:ext cx="3545738" cy="1828800"/>
          </a:xfrm>
          <a:prstGeom prst="roundRect">
            <a:avLst>
              <a:gd name="adj" fmla="val 6000"/>
            </a:avLst>
          </a:prstGeom>
          <a:solidFill>
            <a:srgbClr val="FFFFFF"/>
          </a:solidFill>
          <a:ln w="12700">
            <a:solidFill>
              <a:srgbClr val="D9DEE6"/>
            </a:solidFill>
            <a:prstDash val="solid"/>
          </a:ln>
        </p:spPr>
      </p:sp>
      <p:sp>
        <p:nvSpPr>
          <p:cNvPr id="13" name="Text 10"/>
          <p:cNvSpPr txBox="1"/>
          <p:nvPr/>
        </p:nvSpPr>
        <p:spPr>
          <a:xfrm>
            <a:off x="777240" y="3200400"/>
            <a:ext cx="3088538" cy="457200"/>
          </a:xfrm>
          <a:prstGeom prst="rect">
            <a:avLst/>
          </a:prstGeom>
          <a:noFill/>
          <a:ln/>
        </p:spPr>
        <p:txBody>
          <a:bodyPr wrap="square" lIns="0" tIns="0" rIns="0" bIns="0" rtlCol="0" anchor="ctr"/>
          <a:lstStyle/>
          <a:p>
            <a:pPr indent="0" marL="0">
              <a:buNone/>
            </a:pPr>
            <a:r>
              <a:rPr lang="en-US" sz="2200" b="1" dirty="0">
                <a:solidFill>
                  <a:srgbClr val="14213D"/>
                </a:solidFill>
              </a:rPr>
              <a:t>Identity</a:t>
            </a:r>
            <a:endParaRPr lang="en-US" sz="2200" dirty="0"/>
          </a:p>
        </p:txBody>
      </p:sp>
      <p:sp>
        <p:nvSpPr>
          <p:cNvPr id="14" name="Text 11"/>
          <p:cNvSpPr txBox="1"/>
          <p:nvPr/>
        </p:nvSpPr>
        <p:spPr>
          <a:xfrm>
            <a:off x="777240" y="3703320"/>
            <a:ext cx="3088538" cy="640080"/>
          </a:xfrm>
          <a:prstGeom prst="rect">
            <a:avLst/>
          </a:prstGeom>
          <a:noFill/>
          <a:ln/>
        </p:spPr>
        <p:txBody>
          <a:bodyPr wrap="square" lIns="0" tIns="0" rIns="0" bIns="0" rtlCol="0" anchor="t"/>
          <a:lstStyle/>
          <a:p>
            <a:pPr indent="0" marL="0">
              <a:buNone/>
            </a:pPr>
            <a:r>
              <a:rPr lang="en-US" sz="1500" dirty="0">
                <a:solidFill>
                  <a:srgbClr val="3B4659"/>
                </a:solidFill>
              </a:rPr>
              <a:t>Tài khoản, vai trò, phiên đăng nhập</a:t>
            </a:r>
            <a:endParaRPr lang="en-US" sz="1500" dirty="0"/>
          </a:p>
        </p:txBody>
      </p:sp>
      <p:sp>
        <p:nvSpPr>
          <p:cNvPr id="15" name="Text 12"/>
          <p:cNvSpPr txBox="1"/>
          <p:nvPr/>
        </p:nvSpPr>
        <p:spPr>
          <a:xfrm>
            <a:off x="777240" y="4434840"/>
            <a:ext cx="3088538" cy="365760"/>
          </a:xfrm>
          <a:prstGeom prst="rect">
            <a:avLst/>
          </a:prstGeom>
          <a:noFill/>
          <a:ln/>
        </p:spPr>
        <p:txBody>
          <a:bodyPr wrap="square" lIns="0" tIns="0" rIns="0" bIns="0" rtlCol="0" anchor="ctr"/>
          <a:lstStyle/>
          <a:p>
            <a:pPr indent="0" marL="0">
              <a:buNone/>
            </a:pPr>
            <a:r>
              <a:rPr lang="en-US" sz="1500" b="1" dirty="0">
                <a:solidFill>
                  <a:srgbClr val="C2410C"/>
                </a:solidFill>
              </a:rPr>
              <a:t>c48_identity</a:t>
            </a:r>
            <a:endParaRPr lang="en-US" sz="1500" dirty="0"/>
          </a:p>
        </p:txBody>
      </p:sp>
      <p:sp>
        <p:nvSpPr>
          <p:cNvPr id="16" name="Shape 13"/>
          <p:cNvSpPr/>
          <p:nvPr/>
        </p:nvSpPr>
        <p:spPr>
          <a:xfrm>
            <a:off x="4322978" y="3108960"/>
            <a:ext cx="3545738" cy="1828800"/>
          </a:xfrm>
          <a:prstGeom prst="roundRect">
            <a:avLst>
              <a:gd name="adj" fmla="val 6000"/>
            </a:avLst>
          </a:prstGeom>
          <a:solidFill>
            <a:srgbClr val="FFFFFF"/>
          </a:solidFill>
          <a:ln w="38100">
            <a:solidFill>
              <a:srgbClr val="C2410C"/>
            </a:solidFill>
            <a:prstDash val="solid"/>
          </a:ln>
        </p:spPr>
      </p:sp>
      <p:sp>
        <p:nvSpPr>
          <p:cNvPr id="17" name="Text 14"/>
          <p:cNvSpPr txBox="1"/>
          <p:nvPr/>
        </p:nvSpPr>
        <p:spPr>
          <a:xfrm>
            <a:off x="4551578" y="3200400"/>
            <a:ext cx="3088538" cy="457200"/>
          </a:xfrm>
          <a:prstGeom prst="rect">
            <a:avLst/>
          </a:prstGeom>
          <a:noFill/>
          <a:ln/>
        </p:spPr>
        <p:txBody>
          <a:bodyPr wrap="square" lIns="0" tIns="0" rIns="0" bIns="0" rtlCol="0" anchor="ctr"/>
          <a:lstStyle/>
          <a:p>
            <a:pPr indent="0" marL="0">
              <a:buNone/>
            </a:pPr>
            <a:r>
              <a:rPr lang="en-US" sz="2200" b="1" dirty="0">
                <a:solidFill>
                  <a:srgbClr val="14213D"/>
                </a:solidFill>
              </a:rPr>
              <a:t>Response</a:t>
            </a:r>
            <a:endParaRPr lang="en-US" sz="2200" dirty="0"/>
          </a:p>
        </p:txBody>
      </p:sp>
      <p:sp>
        <p:nvSpPr>
          <p:cNvPr id="18" name="Text 15"/>
          <p:cNvSpPr txBox="1"/>
          <p:nvPr/>
        </p:nvSpPr>
        <p:spPr>
          <a:xfrm>
            <a:off x="4551578" y="3703320"/>
            <a:ext cx="3088538" cy="640080"/>
          </a:xfrm>
          <a:prstGeom prst="rect">
            <a:avLst/>
          </a:prstGeom>
          <a:noFill/>
          <a:ln/>
        </p:spPr>
        <p:txBody>
          <a:bodyPr wrap="square" lIns="0" tIns="0" rIns="0" bIns="0" rtlCol="0" anchor="t"/>
          <a:lstStyle/>
          <a:p>
            <a:pPr indent="0" marL="0">
              <a:buNone/>
            </a:pPr>
            <a:r>
              <a:rPr lang="en-US" sz="1500" dirty="0">
                <a:solidFill>
                  <a:srgbClr val="3B4659"/>
                </a:solidFill>
              </a:rPr>
              <a:t>SOS, xác minh, đội, nhiệm vụ, chiến dịch</a:t>
            </a:r>
            <a:endParaRPr lang="en-US" sz="1500" dirty="0"/>
          </a:p>
        </p:txBody>
      </p:sp>
      <p:sp>
        <p:nvSpPr>
          <p:cNvPr id="19" name="Text 16"/>
          <p:cNvSpPr txBox="1"/>
          <p:nvPr/>
        </p:nvSpPr>
        <p:spPr>
          <a:xfrm>
            <a:off x="4551578" y="4434840"/>
            <a:ext cx="3088538" cy="365760"/>
          </a:xfrm>
          <a:prstGeom prst="rect">
            <a:avLst/>
          </a:prstGeom>
          <a:noFill/>
          <a:ln/>
        </p:spPr>
        <p:txBody>
          <a:bodyPr wrap="square" lIns="0" tIns="0" rIns="0" bIns="0" rtlCol="0" anchor="ctr"/>
          <a:lstStyle/>
          <a:p>
            <a:pPr indent="0" marL="0">
              <a:buNone/>
            </a:pPr>
            <a:r>
              <a:rPr lang="en-US" sz="1500" b="1" dirty="0">
                <a:solidFill>
                  <a:srgbClr val="C2410C"/>
                </a:solidFill>
              </a:rPr>
              <a:t>c48_response · PostGIS</a:t>
            </a:r>
            <a:endParaRPr lang="en-US" sz="1500" dirty="0"/>
          </a:p>
        </p:txBody>
      </p:sp>
      <p:sp>
        <p:nvSpPr>
          <p:cNvPr id="20" name="Shape 17"/>
          <p:cNvSpPr/>
          <p:nvPr/>
        </p:nvSpPr>
        <p:spPr>
          <a:xfrm>
            <a:off x="8097317" y="3108960"/>
            <a:ext cx="3545738" cy="1828800"/>
          </a:xfrm>
          <a:prstGeom prst="roundRect">
            <a:avLst>
              <a:gd name="adj" fmla="val 6000"/>
            </a:avLst>
          </a:prstGeom>
          <a:solidFill>
            <a:srgbClr val="FFFFFF"/>
          </a:solidFill>
          <a:ln w="12700">
            <a:solidFill>
              <a:srgbClr val="D9DEE6"/>
            </a:solidFill>
            <a:prstDash val="solid"/>
          </a:ln>
        </p:spPr>
      </p:sp>
      <p:sp>
        <p:nvSpPr>
          <p:cNvPr id="21" name="Text 18"/>
          <p:cNvSpPr txBox="1"/>
          <p:nvPr/>
        </p:nvSpPr>
        <p:spPr>
          <a:xfrm>
            <a:off x="8325917" y="3200400"/>
            <a:ext cx="3088538" cy="457200"/>
          </a:xfrm>
          <a:prstGeom prst="rect">
            <a:avLst/>
          </a:prstGeom>
          <a:noFill/>
          <a:ln/>
        </p:spPr>
        <p:txBody>
          <a:bodyPr wrap="square" lIns="0" tIns="0" rIns="0" bIns="0" rtlCol="0" anchor="ctr"/>
          <a:lstStyle/>
          <a:p>
            <a:pPr indent="0" marL="0">
              <a:buNone/>
            </a:pPr>
            <a:r>
              <a:rPr lang="en-US" sz="2200" b="1" dirty="0">
                <a:solidFill>
                  <a:srgbClr val="14213D"/>
                </a:solidFill>
              </a:rPr>
              <a:t>Logistics</a:t>
            </a:r>
            <a:endParaRPr lang="en-US" sz="2200" dirty="0"/>
          </a:p>
        </p:txBody>
      </p:sp>
      <p:sp>
        <p:nvSpPr>
          <p:cNvPr id="22" name="Text 19"/>
          <p:cNvSpPr txBox="1"/>
          <p:nvPr/>
        </p:nvSpPr>
        <p:spPr>
          <a:xfrm>
            <a:off x="8325917" y="3703320"/>
            <a:ext cx="3088538" cy="640080"/>
          </a:xfrm>
          <a:prstGeom prst="rect">
            <a:avLst/>
          </a:prstGeom>
          <a:noFill/>
          <a:ln/>
        </p:spPr>
        <p:txBody>
          <a:bodyPr wrap="square" lIns="0" tIns="0" rIns="0" bIns="0" rtlCol="0" anchor="t"/>
          <a:lstStyle/>
          <a:p>
            <a:pPr indent="0" marL="0">
              <a:buNone/>
            </a:pPr>
            <a:r>
              <a:rPr lang="en-US" sz="1500" dirty="0">
                <a:solidFill>
                  <a:srgbClr val="3B4659"/>
                </a:solidFill>
              </a:rPr>
              <a:t>Quyên góp, tồn kho, cấp phát</a:t>
            </a:r>
            <a:endParaRPr lang="en-US" sz="1500" dirty="0"/>
          </a:p>
        </p:txBody>
      </p:sp>
      <p:sp>
        <p:nvSpPr>
          <p:cNvPr id="23" name="Text 20"/>
          <p:cNvSpPr txBox="1"/>
          <p:nvPr/>
        </p:nvSpPr>
        <p:spPr>
          <a:xfrm>
            <a:off x="8325917" y="4434840"/>
            <a:ext cx="3088538" cy="365760"/>
          </a:xfrm>
          <a:prstGeom prst="rect">
            <a:avLst/>
          </a:prstGeom>
          <a:noFill/>
          <a:ln/>
        </p:spPr>
        <p:txBody>
          <a:bodyPr wrap="square" lIns="0" tIns="0" rIns="0" bIns="0" rtlCol="0" anchor="ctr"/>
          <a:lstStyle/>
          <a:p>
            <a:pPr indent="0" marL="0">
              <a:buNone/>
            </a:pPr>
            <a:r>
              <a:rPr lang="en-US" sz="1500" b="1" dirty="0">
                <a:solidFill>
                  <a:srgbClr val="C2410C"/>
                </a:solidFill>
              </a:rPr>
              <a:t>c48_logistics</a:t>
            </a:r>
            <a:endParaRPr lang="en-US" sz="1500" dirty="0"/>
          </a:p>
        </p:txBody>
      </p:sp>
      <p:sp>
        <p:nvSpPr>
          <p:cNvPr id="24" name="Shape 21"/>
          <p:cNvSpPr/>
          <p:nvPr/>
        </p:nvSpPr>
        <p:spPr>
          <a:xfrm>
            <a:off x="548640" y="5166360"/>
            <a:ext cx="11094415" cy="502920"/>
          </a:xfrm>
          <a:prstGeom prst="roundRect">
            <a:avLst>
              <a:gd name="adj" fmla="val 18182"/>
            </a:avLst>
          </a:prstGeom>
          <a:solidFill>
            <a:srgbClr val="14213D"/>
          </a:solidFill>
          <a:ln w="12700">
            <a:solidFill>
              <a:srgbClr val="14213D"/>
            </a:solidFill>
            <a:prstDash val="solid"/>
          </a:ln>
        </p:spPr>
      </p:sp>
      <p:sp>
        <p:nvSpPr>
          <p:cNvPr id="25" name="Text 22"/>
          <p:cNvSpPr txBox="1"/>
          <p:nvPr/>
        </p:nvSpPr>
        <p:spPr>
          <a:xfrm>
            <a:off x="731520" y="5166360"/>
            <a:ext cx="10728655" cy="502920"/>
          </a:xfrm>
          <a:prstGeom prst="rect">
            <a:avLst/>
          </a:prstGeom>
          <a:noFill/>
          <a:ln/>
        </p:spPr>
        <p:txBody>
          <a:bodyPr wrap="square" lIns="0" tIns="0" rIns="0" bIns="0" rtlCol="0" anchor="ctr"/>
          <a:lstStyle/>
          <a:p>
            <a:pPr indent="0" marL="0">
              <a:buNone/>
            </a:pPr>
            <a:r>
              <a:rPr lang="en-US" sz="1600" b="1" dirty="0">
                <a:solidFill>
                  <a:srgbClr val="FFFFFF"/>
                </a:solidFill>
              </a:rPr>
              <a:t>MinIO Community · ảnh và bằng chứng lưu riêng tư</a:t>
            </a:r>
            <a:endParaRPr lang="en-US" sz="1600" dirty="0"/>
          </a:p>
        </p:txBody>
      </p:sp>
      <p:sp>
        <p:nvSpPr>
          <p:cNvPr id="26" name="Text 23"/>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Gọi nhau qua REST; không dùng chung bảng, không khóa ngoại giữa các dịch vụ.</a:t>
            </a:r>
            <a:endParaRPr lang="en-US" sz="1200" dirty="0"/>
          </a:p>
        </p:txBody>
      </p:sp>
      <p:sp>
        <p:nvSpPr>
          <p:cNvPr id="27" name="Text 24"/>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F28A5B"/>
                </a:solidFill>
              </a:rPr>
              <a:t>KỸ THUẬT · CÔNG NGHỆ</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F4F6F9"/>
                </a:solidFill>
              </a:rPr>
              <a:t>Công nghệ được chọn sau khi so sánh các phương án</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194560"/>
                <a:gridCol w="3566160"/>
                <a:gridCol w="5303520"/>
              </a:tblGrid>
              <a:tr h="0">
                <a:tc>
                  <a:txBody>
                    <a:bodyPr/>
                    <a:lstStyle/>
                    <a:p>
                      <a:pPr indent="0" marL="0">
                        <a:buNone/>
                      </a:pPr>
                      <a:r>
                        <a:rPr lang="en-US" sz="1500" b="1" dirty="0">
                          <a:solidFill>
                            <a:srgbClr val="F28A5B"/>
                          </a:solidFill>
                        </a:rPr>
                        <a:t>Thành phần</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0F1B2D"/>
                    </a:solidFill>
                  </a:tcPr>
                </a:tc>
                <a:tc>
                  <a:txBody>
                    <a:bodyPr/>
                    <a:lstStyle/>
                    <a:p>
                      <a:pPr indent="0" marL="0">
                        <a:buNone/>
                      </a:pPr>
                      <a:r>
                        <a:rPr lang="en-US" sz="1500" b="1" dirty="0">
                          <a:solidFill>
                            <a:srgbClr val="F28A5B"/>
                          </a:solidFill>
                        </a:rPr>
                        <a:t>Lựa chọn</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0F1B2D"/>
                    </a:solidFill>
                  </a:tcPr>
                </a:tc>
                <a:tc>
                  <a:txBody>
                    <a:bodyPr/>
                    <a:lstStyle/>
                    <a:p>
                      <a:pPr indent="0" marL="0">
                        <a:buNone/>
                      </a:pPr>
                      <a:r>
                        <a:rPr lang="en-US" sz="1500" b="1" dirty="0">
                          <a:solidFill>
                            <a:srgbClr val="F28A5B"/>
                          </a:solidFill>
                        </a:rPr>
                        <a:t>Lý do</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0F1B2D"/>
                    </a:solidFill>
                  </a:tcPr>
                </a:tc>
              </a:tr>
              <a:tr h="0">
                <a:tc>
                  <a:txBody>
                    <a:bodyPr/>
                    <a:lstStyle/>
                    <a:p>
                      <a:pPr indent="0" marL="0">
                        <a:buNone/>
                      </a:pPr>
                      <a:r>
                        <a:rPr lang="en-US" sz="1500" b="1" dirty="0">
                          <a:solidFill>
                            <a:srgbClr val="F4F6F9"/>
                          </a:solidFill>
                        </a:rPr>
                        <a:t>Backend</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NestJS + TypeScript</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Module hóa, kiểm tra dữ liệu, OpenAPI; cùng ngôn ngữ với web và mobile</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Cơ sở dữ liệu</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PostgreSQL + PostGIS (TypeORM)</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Giao dịch quan hệ và truy vấn không gian theo vị trí</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Web</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React + TypeScript + Vite</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Bảng điều khiển vận hành, không cần SSR</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Mobile</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React Native + Expo</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GPS, ảnh, thông báo trên cùng nền TypeScript</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Lưu tệp</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MinIO Community (S3)</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Lưu đối tượng riêng tư, build từ mã nguồn upstream</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r h="0">
                <a:tc>
                  <a:txBody>
                    <a:bodyPr/>
                    <a:lstStyle/>
                    <a:p>
                      <a:pPr indent="0" marL="0">
                        <a:buNone/>
                      </a:pPr>
                      <a:r>
                        <a:rPr lang="en-US" sz="1500" b="1" dirty="0">
                          <a:solidFill>
                            <a:srgbClr val="F4F6F9"/>
                          </a:solidFill>
                        </a:rPr>
                        <a:t>Triển khai</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Docker Compose + Nginx</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c>
                  <a:txBody>
                    <a:bodyPr/>
                    <a:lstStyle/>
                    <a:p>
                      <a:pPr indent="0" marL="0">
                        <a:buNone/>
                      </a:pPr>
                      <a:r>
                        <a:rPr lang="en-US" sz="1500" dirty="0">
                          <a:solidFill>
                            <a:srgbClr val="F4F6F9"/>
                          </a:solidFill>
                        </a:rPr>
                        <a:t>Chạy toàn bộ hệ thống trên một máy demo</a:t>
                      </a:r>
                      <a:endParaRPr lang="en-US" sz="1500" dirty="0"/>
                    </a:p>
                  </a:txBody>
                  <a:tcPr marL="109728" marR="109728" marT="73152" marB="73152" anchor="ctr">
                    <a:lnL w="12700" cap="flat" cmpd="sng" algn="ctr">
                      <a:solidFill>
                        <a:srgbClr val="2B3D5C"/>
                      </a:solidFill>
                      <a:prstDash val="solid"/>
                      <a:round/>
                      <a:headEnd type="none" w="med" len="med"/>
                      <a:tailEnd type="none" w="med" len="med"/>
                    </a:lnL>
                    <a:lnR w="12700" cap="flat" cmpd="sng" algn="ctr">
                      <a:solidFill>
                        <a:srgbClr val="2B3D5C"/>
                      </a:solidFill>
                      <a:prstDash val="solid"/>
                      <a:round/>
                      <a:headEnd type="none" w="med" len="med"/>
                      <a:tailEnd type="none" w="med" len="med"/>
                    </a:lnR>
                    <a:lnT w="12700" cap="flat" cmpd="sng" algn="ctr">
                      <a:solidFill>
                        <a:srgbClr val="2B3D5C"/>
                      </a:solidFill>
                      <a:prstDash val="solid"/>
                      <a:round/>
                      <a:headEnd type="none" w="med" len="med"/>
                      <a:tailEnd type="none" w="med" len="med"/>
                    </a:lnT>
                    <a:lnB w="12700" cap="flat" cmpd="sng" algn="ctr">
                      <a:solidFill>
                        <a:srgbClr val="2B3D5C"/>
                      </a:solidFill>
                      <a:prstDash val="solid"/>
                      <a:round/>
                      <a:headEnd type="none" w="med" len="med"/>
                      <a:tailEnd type="none" w="med" len="med"/>
                    </a:lnB>
                    <a:solidFill>
                      <a:srgbClr val="1B2A42"/>
                    </a:solidFill>
                  </a:tcPr>
                </a:tc>
              </a:tr>
            </a:tbl>
          </a:graphicData>
        </a:graphic>
      </p:graphicFrame>
      <p:sp>
        <p:nvSpPr>
          <p:cNvPr id="7" name="Text 3"/>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9AA8BD"/>
                </a:solidFill>
              </a:rPr>
              <a:t>NestJS được chọn sau khi so sánh với Spring Boot, Django/DRF, FastAPI và Flask.</a:t>
            </a:r>
            <a:endParaRPr lang="en-US" sz="1200" dirty="0"/>
          </a:p>
        </p:txBody>
      </p:sp>
      <p:sp>
        <p:nvSpPr>
          <p:cNvPr id="8" name="Text 4"/>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9AA8BD"/>
                </a:solidFill>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KỸ THUẬT · TOÀN VẸN DỮ LIỆU</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Mọi thay đổi đều có kiểm tra và dấu vết</a:t>
            </a:r>
            <a:endParaRPr lang="en-US" sz="3200" dirty="0"/>
          </a:p>
        </p:txBody>
      </p:sp>
      <p:sp>
        <p:nvSpPr>
          <p:cNvPr id="6" name="Shape 3"/>
          <p:cNvSpPr/>
          <p:nvPr/>
        </p:nvSpPr>
        <p:spPr>
          <a:xfrm>
            <a:off x="548640" y="1737360"/>
            <a:ext cx="5432908" cy="1920240"/>
          </a:xfrm>
          <a:prstGeom prst="roundRect">
            <a:avLst>
              <a:gd name="adj" fmla="val 5714"/>
            </a:avLst>
          </a:prstGeom>
          <a:solidFill>
            <a:srgbClr val="FFFFFF"/>
          </a:solidFill>
          <a:ln w="12700">
            <a:solidFill>
              <a:srgbClr val="D9DEE6"/>
            </a:solidFill>
            <a:prstDash val="solid"/>
          </a:ln>
        </p:spPr>
      </p:sp>
      <p:sp>
        <p:nvSpPr>
          <p:cNvPr id="7" name="Text 4"/>
          <p:cNvSpPr txBox="1"/>
          <p:nvPr/>
        </p:nvSpPr>
        <p:spPr>
          <a:xfrm>
            <a:off x="777240" y="1920240"/>
            <a:ext cx="4975708" cy="502920"/>
          </a:xfrm>
          <a:prstGeom prst="rect">
            <a:avLst/>
          </a:prstGeom>
          <a:noFill/>
          <a:ln/>
        </p:spPr>
        <p:txBody>
          <a:bodyPr wrap="square" lIns="0" tIns="0" rIns="0" bIns="0" rtlCol="0" anchor="t"/>
          <a:lstStyle/>
          <a:p>
            <a:pPr indent="0" marL="0">
              <a:buNone/>
            </a:pPr>
            <a:r>
              <a:rPr lang="en-US" sz="2200" b="1" dirty="0">
                <a:solidFill>
                  <a:srgbClr val="14213D"/>
                </a:solidFill>
              </a:rPr>
              <a:t>Máy trạng thái</a:t>
            </a:r>
            <a:endParaRPr lang="en-US" sz="2200" dirty="0"/>
          </a:p>
        </p:txBody>
      </p:sp>
      <p:sp>
        <p:nvSpPr>
          <p:cNvPr id="8" name="Text 5"/>
          <p:cNvSpPr txBox="1"/>
          <p:nvPr/>
        </p:nvSpPr>
        <p:spPr>
          <a:xfrm>
            <a:off x="777240" y="2468880"/>
            <a:ext cx="4975708" cy="1051560"/>
          </a:xfrm>
          <a:prstGeom prst="rect">
            <a:avLst/>
          </a:prstGeom>
          <a:noFill/>
          <a:ln/>
        </p:spPr>
        <p:txBody>
          <a:bodyPr wrap="square" lIns="0" tIns="0" rIns="0" bIns="0" rtlCol="0" anchor="t"/>
          <a:lstStyle/>
          <a:p>
            <a:pPr indent="0" marL="0">
              <a:buNone/>
            </a:pPr>
            <a:r>
              <a:rPr lang="en-US" sz="1600" dirty="0">
                <a:solidFill>
                  <a:srgbClr val="3B4659"/>
                </a:solidFill>
              </a:rPr>
              <a:t>Yêu cầu và nhiệm vụ chỉ đổi trạng thái qua lệnh có kiểm tra điều kiện, không cho sửa trạng thái tùy ý.</a:t>
            </a:r>
            <a:endParaRPr lang="en-US" sz="1600" dirty="0"/>
          </a:p>
        </p:txBody>
      </p:sp>
      <p:sp>
        <p:nvSpPr>
          <p:cNvPr id="9" name="Shape 6"/>
          <p:cNvSpPr/>
          <p:nvPr/>
        </p:nvSpPr>
        <p:spPr>
          <a:xfrm>
            <a:off x="6210148" y="1737360"/>
            <a:ext cx="5432908" cy="1920240"/>
          </a:xfrm>
          <a:prstGeom prst="roundRect">
            <a:avLst>
              <a:gd name="adj" fmla="val 5714"/>
            </a:avLst>
          </a:prstGeom>
          <a:solidFill>
            <a:srgbClr val="FFFFFF"/>
          </a:solidFill>
          <a:ln w="12700">
            <a:solidFill>
              <a:srgbClr val="D9DEE6"/>
            </a:solidFill>
            <a:prstDash val="solid"/>
          </a:ln>
        </p:spPr>
      </p:sp>
      <p:sp>
        <p:nvSpPr>
          <p:cNvPr id="10" name="Text 7"/>
          <p:cNvSpPr txBox="1"/>
          <p:nvPr/>
        </p:nvSpPr>
        <p:spPr>
          <a:xfrm>
            <a:off x="6438748" y="1920240"/>
            <a:ext cx="4975708" cy="502920"/>
          </a:xfrm>
          <a:prstGeom prst="rect">
            <a:avLst/>
          </a:prstGeom>
          <a:noFill/>
          <a:ln/>
        </p:spPr>
        <p:txBody>
          <a:bodyPr wrap="square" lIns="0" tIns="0" rIns="0" bIns="0" rtlCol="0" anchor="t"/>
          <a:lstStyle/>
          <a:p>
            <a:pPr indent="0" marL="0">
              <a:buNone/>
            </a:pPr>
            <a:r>
              <a:rPr lang="en-US" sz="2200" b="1" dirty="0">
                <a:solidFill>
                  <a:srgbClr val="14213D"/>
                </a:solidFill>
              </a:rPr>
              <a:t>Idempotency và phiên bản</a:t>
            </a:r>
            <a:endParaRPr lang="en-US" sz="2200" dirty="0"/>
          </a:p>
        </p:txBody>
      </p:sp>
      <p:sp>
        <p:nvSpPr>
          <p:cNvPr id="11" name="Text 8"/>
          <p:cNvSpPr txBox="1"/>
          <p:nvPr/>
        </p:nvSpPr>
        <p:spPr>
          <a:xfrm>
            <a:off x="6438748" y="2468880"/>
            <a:ext cx="4975708" cy="1051560"/>
          </a:xfrm>
          <a:prstGeom prst="rect">
            <a:avLst/>
          </a:prstGeom>
          <a:noFill/>
          <a:ln/>
        </p:spPr>
        <p:txBody>
          <a:bodyPr wrap="square" lIns="0" tIns="0" rIns="0" bIns="0" rtlCol="0" anchor="t"/>
          <a:lstStyle/>
          <a:p>
            <a:pPr indent="0" marL="0">
              <a:buNone/>
            </a:pPr>
            <a:r>
              <a:rPr lang="en-US" sz="1600" dirty="0">
                <a:solidFill>
                  <a:srgbClr val="3B4659"/>
                </a:solidFill>
              </a:rPr>
              <a:t>Lệnh gửi lại không tạo bản ghi trùng; kiểm tra phiên bản chặn cập nhật trên dữ liệu đã cũ.</a:t>
            </a:r>
            <a:endParaRPr lang="en-US" sz="1600" dirty="0"/>
          </a:p>
        </p:txBody>
      </p:sp>
      <p:sp>
        <p:nvSpPr>
          <p:cNvPr id="12" name="Shape 9"/>
          <p:cNvSpPr/>
          <p:nvPr/>
        </p:nvSpPr>
        <p:spPr>
          <a:xfrm>
            <a:off x="548640" y="3886200"/>
            <a:ext cx="5432908" cy="1920240"/>
          </a:xfrm>
          <a:prstGeom prst="roundRect">
            <a:avLst>
              <a:gd name="adj" fmla="val 5714"/>
            </a:avLst>
          </a:prstGeom>
          <a:solidFill>
            <a:srgbClr val="FFFFFF"/>
          </a:solidFill>
          <a:ln w="12700">
            <a:solidFill>
              <a:srgbClr val="D9DEE6"/>
            </a:solidFill>
            <a:prstDash val="solid"/>
          </a:ln>
        </p:spPr>
      </p:sp>
      <p:sp>
        <p:nvSpPr>
          <p:cNvPr id="13" name="Text 10"/>
          <p:cNvSpPr txBox="1"/>
          <p:nvPr/>
        </p:nvSpPr>
        <p:spPr>
          <a:xfrm>
            <a:off x="777240" y="4069080"/>
            <a:ext cx="4975708" cy="502920"/>
          </a:xfrm>
          <a:prstGeom prst="rect">
            <a:avLst/>
          </a:prstGeom>
          <a:noFill/>
          <a:ln/>
        </p:spPr>
        <p:txBody>
          <a:bodyPr wrap="square" lIns="0" tIns="0" rIns="0" bIns="0" rtlCol="0" anchor="t"/>
          <a:lstStyle/>
          <a:p>
            <a:pPr indent="0" marL="0">
              <a:buNone/>
            </a:pPr>
            <a:r>
              <a:rPr lang="en-US" sz="2200" b="1" dirty="0">
                <a:solidFill>
                  <a:srgbClr val="14213D"/>
                </a:solidFill>
              </a:rPr>
              <a:t>Nhật ký kiểm toán</a:t>
            </a:r>
            <a:endParaRPr lang="en-US" sz="2200" dirty="0"/>
          </a:p>
        </p:txBody>
      </p:sp>
      <p:sp>
        <p:nvSpPr>
          <p:cNvPr id="14" name="Text 11"/>
          <p:cNvSpPr txBox="1"/>
          <p:nvPr/>
        </p:nvSpPr>
        <p:spPr>
          <a:xfrm>
            <a:off x="777240" y="4617720"/>
            <a:ext cx="4975708" cy="1051560"/>
          </a:xfrm>
          <a:prstGeom prst="rect">
            <a:avLst/>
          </a:prstGeom>
          <a:noFill/>
          <a:ln/>
        </p:spPr>
        <p:txBody>
          <a:bodyPr wrap="square" lIns="0" tIns="0" rIns="0" bIns="0" rtlCol="0" anchor="t"/>
          <a:lstStyle/>
          <a:p>
            <a:pPr indent="0" marL="0">
              <a:buNone/>
            </a:pPr>
            <a:r>
              <a:rPr lang="en-US" sz="1600" dirty="0">
                <a:solidFill>
                  <a:srgbClr val="3B4659"/>
                </a:solidFill>
              </a:rPr>
              <a:t>Đổi ưu tiên, từ chối, hủy, đổi vai trò lưu người thực hiện, thời điểm, lý do. Giờ máy chủ theo UTC.</a:t>
            </a:r>
            <a:endParaRPr lang="en-US" sz="1600" dirty="0"/>
          </a:p>
        </p:txBody>
      </p:sp>
      <p:sp>
        <p:nvSpPr>
          <p:cNvPr id="15" name="Shape 12"/>
          <p:cNvSpPr/>
          <p:nvPr/>
        </p:nvSpPr>
        <p:spPr>
          <a:xfrm>
            <a:off x="6210148" y="3886200"/>
            <a:ext cx="5432908" cy="1920240"/>
          </a:xfrm>
          <a:prstGeom prst="roundRect">
            <a:avLst>
              <a:gd name="adj" fmla="val 5714"/>
            </a:avLst>
          </a:prstGeom>
          <a:solidFill>
            <a:srgbClr val="FFFFFF"/>
          </a:solidFill>
          <a:ln w="12700">
            <a:solidFill>
              <a:srgbClr val="D9DEE6"/>
            </a:solidFill>
            <a:prstDash val="solid"/>
          </a:ln>
        </p:spPr>
      </p:sp>
      <p:sp>
        <p:nvSpPr>
          <p:cNvPr id="16" name="Text 13"/>
          <p:cNvSpPr txBox="1"/>
          <p:nvPr/>
        </p:nvSpPr>
        <p:spPr>
          <a:xfrm>
            <a:off x="6438748" y="4069080"/>
            <a:ext cx="4975708" cy="502920"/>
          </a:xfrm>
          <a:prstGeom prst="rect">
            <a:avLst/>
          </a:prstGeom>
          <a:noFill/>
          <a:ln/>
        </p:spPr>
        <p:txBody>
          <a:bodyPr wrap="square" lIns="0" tIns="0" rIns="0" bIns="0" rtlCol="0" anchor="t"/>
          <a:lstStyle/>
          <a:p>
            <a:pPr indent="0" marL="0">
              <a:buNone/>
            </a:pPr>
            <a:r>
              <a:rPr lang="en-US" sz="2200" b="1" dirty="0">
                <a:solidFill>
                  <a:srgbClr val="14213D"/>
                </a:solidFill>
              </a:rPr>
              <a:t>Dữ liệu vị trí</a:t>
            </a:r>
            <a:endParaRPr lang="en-US" sz="2200" dirty="0"/>
          </a:p>
        </p:txBody>
      </p:sp>
      <p:sp>
        <p:nvSpPr>
          <p:cNvPr id="17" name="Text 14"/>
          <p:cNvSpPr txBox="1"/>
          <p:nvPr/>
        </p:nvSpPr>
        <p:spPr>
          <a:xfrm>
            <a:off x="6438748" y="4617720"/>
            <a:ext cx="4975708" cy="1051560"/>
          </a:xfrm>
          <a:prstGeom prst="rect">
            <a:avLst/>
          </a:prstGeom>
          <a:noFill/>
          <a:ln/>
        </p:spPr>
        <p:txBody>
          <a:bodyPr wrap="square" lIns="0" tIns="0" rIns="0" bIns="0" rtlCol="0" anchor="t"/>
          <a:lstStyle/>
          <a:p>
            <a:pPr indent="0" marL="0">
              <a:buNone/>
            </a:pPr>
            <a:r>
              <a:rPr lang="en-US" sz="1600" dirty="0">
                <a:solidFill>
                  <a:srgbClr val="3B4659"/>
                </a:solidFill>
              </a:rPr>
              <a:t>PostGIS lưu tọa độ; giờ ghi trên thiết bị lưu riêng; ghim thủ công không bị gán độ chính xác GPS giả.</a:t>
            </a:r>
            <a:endParaRPr lang="en-US" sz="1600" dirty="0"/>
          </a:p>
        </p:txBody>
      </p:sp>
      <p:sp>
        <p:nvSpPr>
          <p:cNvPr id="18" name="Text 15"/>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Không xóa cứng yêu cầu, nhiệm vụ hay biến động kho đã có hoạt động.</a:t>
            </a:r>
            <a:endParaRPr lang="en-US" sz="1200" dirty="0"/>
          </a:p>
        </p:txBody>
      </p:sp>
      <p:sp>
        <p:nvSpPr>
          <p:cNvPr id="19" name="Text 16"/>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F28A5B"/>
                </a:solidFill>
              </a:rPr>
              <a:t>KỸ THUẬT · BẢO MẬT, NGÔN NGỮ, AI</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F4F6F9"/>
                </a:solidFill>
              </a:rPr>
              <a:t>Phân quyền chặt, tiếng Việt toàn phần, AI chỉ hỗ trợ</a:t>
            </a:r>
            <a:endParaRPr lang="en-US" sz="3200" dirty="0"/>
          </a:p>
        </p:txBody>
      </p:sp>
      <p:sp>
        <p:nvSpPr>
          <p:cNvPr id="6" name="Shape 3"/>
          <p:cNvSpPr/>
          <p:nvPr/>
        </p:nvSpPr>
        <p:spPr>
          <a:xfrm>
            <a:off x="548640" y="2011680"/>
            <a:ext cx="3545738" cy="3291840"/>
          </a:xfrm>
          <a:prstGeom prst="roundRect">
            <a:avLst>
              <a:gd name="adj" fmla="val 3333"/>
            </a:avLst>
          </a:prstGeom>
          <a:solidFill>
            <a:srgbClr val="1B2A42"/>
          </a:solidFill>
          <a:ln w="12700">
            <a:solidFill>
              <a:srgbClr val="2B3D5C"/>
            </a:solidFill>
            <a:prstDash val="solid"/>
          </a:ln>
        </p:spPr>
      </p:sp>
      <p:sp>
        <p:nvSpPr>
          <p:cNvPr id="7" name="Text 4"/>
          <p:cNvSpPr txBox="1"/>
          <p:nvPr/>
        </p:nvSpPr>
        <p:spPr>
          <a:xfrm>
            <a:off x="777240" y="2194560"/>
            <a:ext cx="3088538" cy="548640"/>
          </a:xfrm>
          <a:prstGeom prst="rect">
            <a:avLst/>
          </a:prstGeom>
          <a:noFill/>
          <a:ln/>
        </p:spPr>
        <p:txBody>
          <a:bodyPr wrap="square" lIns="0" tIns="0" rIns="0" bIns="0" rtlCol="0" anchor="t"/>
          <a:lstStyle/>
          <a:p>
            <a:pPr indent="0" marL="0">
              <a:buNone/>
            </a:pPr>
            <a:r>
              <a:rPr lang="en-US" sz="2000" b="1" dirty="0">
                <a:solidFill>
                  <a:srgbClr val="F4F6F9"/>
                </a:solidFill>
              </a:rPr>
              <a:t>Phân quyền và riêng tư</a:t>
            </a:r>
            <a:endParaRPr lang="en-US" sz="2000" dirty="0"/>
          </a:p>
        </p:txBody>
      </p:sp>
      <p:sp>
        <p:nvSpPr>
          <p:cNvPr id="8" name="Text 5"/>
          <p:cNvSpPr txBox="1"/>
          <p:nvPr/>
        </p:nvSpPr>
        <p:spPr>
          <a:xfrm>
            <a:off x="777240" y="2788920"/>
            <a:ext cx="3088538" cy="2377440"/>
          </a:xfrm>
          <a:prstGeom prst="rect">
            <a:avLst/>
          </a:prstGeom>
          <a:noFill/>
          <a:ln/>
        </p:spPr>
        <p:txBody>
          <a:bodyPr wrap="square" lIns="0" tIns="0" rIns="0" bIns="0" rtlCol="0" anchor="t"/>
          <a:lstStyle/>
          <a:p>
            <a:pPr indent="0" marL="0">
              <a:buNone/>
            </a:pPr>
            <a:r>
              <a:rPr lang="en-US" sz="1500" dirty="0">
                <a:solidFill>
                  <a:srgbClr val="B8C4D6"/>
                </a:solidFill>
              </a:rPr>
              <a:t>RBAC theo phạm vi cho năm nhóm người dùng. Thông tin liên hệ của người báo và hộ dân được giữ riêng tư; mã theo dõi dùng riêng cho từng yêu cầu.</a:t>
            </a:r>
            <a:endParaRPr lang="en-US" sz="1500" dirty="0"/>
          </a:p>
        </p:txBody>
      </p:sp>
      <p:sp>
        <p:nvSpPr>
          <p:cNvPr id="9" name="Shape 6"/>
          <p:cNvSpPr/>
          <p:nvPr/>
        </p:nvSpPr>
        <p:spPr>
          <a:xfrm>
            <a:off x="4322978" y="2011680"/>
            <a:ext cx="3545738" cy="3291840"/>
          </a:xfrm>
          <a:prstGeom prst="roundRect">
            <a:avLst>
              <a:gd name="adj" fmla="val 3333"/>
            </a:avLst>
          </a:prstGeom>
          <a:solidFill>
            <a:srgbClr val="1B2A42"/>
          </a:solidFill>
          <a:ln w="12700">
            <a:solidFill>
              <a:srgbClr val="2B3D5C"/>
            </a:solidFill>
            <a:prstDash val="solid"/>
          </a:ln>
        </p:spPr>
      </p:sp>
      <p:sp>
        <p:nvSpPr>
          <p:cNvPr id="10" name="Text 7"/>
          <p:cNvSpPr txBox="1"/>
          <p:nvPr/>
        </p:nvSpPr>
        <p:spPr>
          <a:xfrm>
            <a:off x="4551578" y="2194560"/>
            <a:ext cx="3088538" cy="548640"/>
          </a:xfrm>
          <a:prstGeom prst="rect">
            <a:avLst/>
          </a:prstGeom>
          <a:noFill/>
          <a:ln/>
        </p:spPr>
        <p:txBody>
          <a:bodyPr wrap="square" lIns="0" tIns="0" rIns="0" bIns="0" rtlCol="0" anchor="t"/>
          <a:lstStyle/>
          <a:p>
            <a:pPr indent="0" marL="0">
              <a:buNone/>
            </a:pPr>
            <a:r>
              <a:rPr lang="en-US" sz="2000" b="1" dirty="0">
                <a:solidFill>
                  <a:srgbClr val="F4F6F9"/>
                </a:solidFill>
              </a:rPr>
              <a:t>Tiếng Việt toàn phần</a:t>
            </a:r>
            <a:endParaRPr lang="en-US" sz="2000" dirty="0"/>
          </a:p>
        </p:txBody>
      </p:sp>
      <p:sp>
        <p:nvSpPr>
          <p:cNvPr id="11" name="Text 8"/>
          <p:cNvSpPr txBox="1"/>
          <p:nvPr/>
        </p:nvSpPr>
        <p:spPr>
          <a:xfrm>
            <a:off x="4551578" y="2788920"/>
            <a:ext cx="3088538" cy="2377440"/>
          </a:xfrm>
          <a:prstGeom prst="rect">
            <a:avLst/>
          </a:prstGeom>
          <a:noFill/>
          <a:ln/>
        </p:spPr>
        <p:txBody>
          <a:bodyPr wrap="square" lIns="0" tIns="0" rIns="0" bIns="0" rtlCol="0" anchor="t"/>
          <a:lstStyle/>
          <a:p>
            <a:pPr indent="0" marL="0">
              <a:buNone/>
            </a:pPr>
            <a:r>
              <a:rPr lang="en-US" sz="1500" dirty="0">
                <a:solidFill>
                  <a:srgbClr val="B8C4D6"/>
                </a:solidFill>
              </a:rPr>
              <a:t>Giao diện Web, Mobile và thông báo lỗi backend đều bằng tiếng Việt. Mã lỗi và enum giữ ổn định bằng tiếng Anh; ứng dụng dựa vào mã, không dựa vào chuỗi thông báo.</a:t>
            </a:r>
            <a:endParaRPr lang="en-US" sz="1500" dirty="0"/>
          </a:p>
        </p:txBody>
      </p:sp>
      <p:sp>
        <p:nvSpPr>
          <p:cNvPr id="12" name="Shape 9"/>
          <p:cNvSpPr/>
          <p:nvPr/>
        </p:nvSpPr>
        <p:spPr>
          <a:xfrm>
            <a:off x="8097317" y="2011680"/>
            <a:ext cx="3545738" cy="3291840"/>
          </a:xfrm>
          <a:prstGeom prst="roundRect">
            <a:avLst>
              <a:gd name="adj" fmla="val 3333"/>
            </a:avLst>
          </a:prstGeom>
          <a:solidFill>
            <a:srgbClr val="1B2A42"/>
          </a:solidFill>
          <a:ln w="12700">
            <a:solidFill>
              <a:srgbClr val="2B3D5C"/>
            </a:solidFill>
            <a:prstDash val="solid"/>
          </a:ln>
        </p:spPr>
      </p:sp>
      <p:sp>
        <p:nvSpPr>
          <p:cNvPr id="13" name="Text 10"/>
          <p:cNvSpPr txBox="1"/>
          <p:nvPr/>
        </p:nvSpPr>
        <p:spPr>
          <a:xfrm>
            <a:off x="8325917" y="2194560"/>
            <a:ext cx="3088538" cy="548640"/>
          </a:xfrm>
          <a:prstGeom prst="rect">
            <a:avLst/>
          </a:prstGeom>
          <a:noFill/>
          <a:ln/>
        </p:spPr>
        <p:txBody>
          <a:bodyPr wrap="square" lIns="0" tIns="0" rIns="0" bIns="0" rtlCol="0" anchor="t"/>
          <a:lstStyle/>
          <a:p>
            <a:pPr indent="0" marL="0">
              <a:buNone/>
            </a:pPr>
            <a:r>
              <a:rPr lang="en-US" sz="2000" b="1" dirty="0">
                <a:solidFill>
                  <a:srgbClr val="F4F6F9"/>
                </a:solidFill>
              </a:rPr>
              <a:t>AI hỗ trợ (tùy chọn)</a:t>
            </a:r>
            <a:endParaRPr lang="en-US" sz="2000" dirty="0"/>
          </a:p>
        </p:txBody>
      </p:sp>
      <p:sp>
        <p:nvSpPr>
          <p:cNvPr id="14" name="Text 11"/>
          <p:cNvSpPr txBox="1"/>
          <p:nvPr/>
        </p:nvSpPr>
        <p:spPr>
          <a:xfrm>
            <a:off x="8325917" y="2788920"/>
            <a:ext cx="3088538" cy="2377440"/>
          </a:xfrm>
          <a:prstGeom prst="rect">
            <a:avLst/>
          </a:prstGeom>
          <a:noFill/>
          <a:ln/>
        </p:spPr>
        <p:txBody>
          <a:bodyPr wrap="square" lIns="0" tIns="0" rIns="0" bIns="0" rtlCol="0" anchor="t"/>
          <a:lstStyle/>
          <a:p>
            <a:pPr indent="0" marL="0">
              <a:buNone/>
            </a:pPr>
            <a:r>
              <a:rPr lang="en-US" sz="1500" dirty="0">
                <a:solidFill>
                  <a:srgbClr val="B8C4D6"/>
                </a:solidFill>
              </a:rPr>
              <a:t>Gợi ý có giải thích bằng tiếng Việt cho điều phối viên. AI không tự xếp ưu tiên hay điều đội; quyết định cuối thuộc về con người.</a:t>
            </a:r>
            <a:endParaRPr lang="en-US" sz="1500" dirty="0"/>
          </a:p>
        </p:txBody>
      </p:sp>
      <p:sp>
        <p:nvSpPr>
          <p:cNvPr id="15" name="Text 12"/>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9AA8BD"/>
                </a:solidFill>
              </a:rPr>
              <a:t>Thông tin người dùng nhập được giữ nguyên, không tự dịch.</a:t>
            </a:r>
            <a:endParaRPr lang="en-US" sz="1200" dirty="0"/>
          </a:p>
        </p:txBody>
      </p:sp>
      <p:sp>
        <p:nvSpPr>
          <p:cNvPr id="16" name="Text 13"/>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9AA8BD"/>
                </a:solidFill>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D9DEE6"/>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C2410C"/>
                </a:solidFill>
              </a:rPr>
              <a:t>KỸ THUẬT · TRIỂN KHAI VÀ KIỂM THỬ</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14213D"/>
                </a:solidFill>
              </a:rPr>
              <a:t>Một Compose duy nhất, kiểm thử trên cùng hệ thống chính</a:t>
            </a:r>
            <a:endParaRPr lang="en-US" sz="3200" dirty="0"/>
          </a:p>
        </p:txBody>
      </p:sp>
      <p:sp>
        <p:nvSpPr>
          <p:cNvPr id="6" name="Shape 3"/>
          <p:cNvSpPr/>
          <p:nvPr/>
        </p:nvSpPr>
        <p:spPr>
          <a:xfrm>
            <a:off x="548640" y="1920240"/>
            <a:ext cx="5432908" cy="3566160"/>
          </a:xfrm>
          <a:prstGeom prst="roundRect">
            <a:avLst>
              <a:gd name="adj" fmla="val 3077"/>
            </a:avLst>
          </a:prstGeom>
          <a:solidFill>
            <a:srgbClr val="FFFFFF"/>
          </a:solidFill>
          <a:ln w="12700">
            <a:solidFill>
              <a:srgbClr val="D9DEE6"/>
            </a:solidFill>
            <a:prstDash val="solid"/>
          </a:ln>
        </p:spPr>
      </p:sp>
      <p:sp>
        <p:nvSpPr>
          <p:cNvPr id="7" name="Text 4"/>
          <p:cNvSpPr txBox="1"/>
          <p:nvPr/>
        </p:nvSpPr>
        <p:spPr>
          <a:xfrm>
            <a:off x="822960" y="2057400"/>
            <a:ext cx="4884268" cy="457200"/>
          </a:xfrm>
          <a:prstGeom prst="rect">
            <a:avLst/>
          </a:prstGeom>
          <a:noFill/>
          <a:ln/>
        </p:spPr>
        <p:txBody>
          <a:bodyPr wrap="square" lIns="0" tIns="0" rIns="0" bIns="0" rtlCol="0" anchor="ctr"/>
          <a:lstStyle/>
          <a:p>
            <a:pPr indent="0" marL="0">
              <a:buNone/>
            </a:pPr>
            <a:r>
              <a:rPr lang="en-US" sz="2200" b="1" dirty="0">
                <a:solidFill>
                  <a:srgbClr val="14213D"/>
                </a:solidFill>
              </a:rPr>
              <a:t>Triển khai</a:t>
            </a:r>
            <a:endParaRPr lang="en-US" sz="2200" dirty="0"/>
          </a:p>
        </p:txBody>
      </p:sp>
      <p:sp>
        <p:nvSpPr>
          <p:cNvPr id="8" name="Text 5"/>
          <p:cNvSpPr txBox="1"/>
          <p:nvPr/>
        </p:nvSpPr>
        <p:spPr>
          <a:xfrm>
            <a:off x="822960" y="2606040"/>
            <a:ext cx="488426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B4659"/>
                </a:solidFill>
              </a:rPr>
              <a:t>Một file compose.yaml: PostgreSQL, ba API, tác vụ migration và seed, Nginx</a:t>
            </a:r>
            <a:endParaRPr lang="en-US" sz="1600" dirty="0"/>
          </a:p>
          <a:p>
            <a:pPr marL="342900" indent="-342900">
              <a:spcAft>
                <a:spcPts val="800"/>
              </a:spcAft>
              <a:buSzPct val="100000"/>
              <a:buChar char="•"/>
            </a:pPr>
            <a:r>
              <a:rPr lang="en-US" sz="1600" dirty="0">
                <a:solidFill>
                  <a:srgbClr val="3B4659"/>
                </a:solidFill>
              </a:rPr>
              <a:t>MinIO chỉ bật qua profile storage</a:t>
            </a:r>
            <a:endParaRPr lang="en-US" sz="1600" dirty="0"/>
          </a:p>
          <a:p>
            <a:pPr marL="342900" indent="-342900">
              <a:spcAft>
                <a:spcPts val="800"/>
              </a:spcAft>
              <a:buSzPct val="100000"/>
              <a:buChar char="•"/>
            </a:pPr>
            <a:r>
              <a:rPr lang="en-US" sz="1600" dirty="0">
                <a:solidFill>
                  <a:srgbClr val="3B4659"/>
                </a:solidFill>
              </a:rPr>
              <a:t>Khởi động bình thường không bao giờ xóa dữ liệu</a:t>
            </a:r>
            <a:endParaRPr lang="en-US" sz="1600" dirty="0"/>
          </a:p>
          <a:p>
            <a:pPr marL="342900" indent="-342900">
              <a:spcAft>
                <a:spcPts val="800"/>
              </a:spcAft>
              <a:buSzPct val="100000"/>
              <a:buChar char="•"/>
            </a:pPr>
            <a:r>
              <a:rPr lang="en-US" sz="1600" dirty="0">
                <a:solidFill>
                  <a:srgbClr val="3B4659"/>
                </a:solidFill>
              </a:rPr>
              <a:t>Chỉ đặt lại cơ sở dữ liệu bằng lệnh --reset rõ ràng</a:t>
            </a:r>
            <a:endParaRPr lang="en-US" sz="1600" dirty="0"/>
          </a:p>
        </p:txBody>
      </p:sp>
      <p:sp>
        <p:nvSpPr>
          <p:cNvPr id="9" name="Shape 6"/>
          <p:cNvSpPr/>
          <p:nvPr/>
        </p:nvSpPr>
        <p:spPr>
          <a:xfrm>
            <a:off x="6210148" y="1920240"/>
            <a:ext cx="5432908" cy="3566160"/>
          </a:xfrm>
          <a:prstGeom prst="roundRect">
            <a:avLst>
              <a:gd name="adj" fmla="val 3077"/>
            </a:avLst>
          </a:prstGeom>
          <a:solidFill>
            <a:srgbClr val="FFFFFF"/>
          </a:solidFill>
          <a:ln w="12700">
            <a:solidFill>
              <a:srgbClr val="D9DEE6"/>
            </a:solidFill>
            <a:prstDash val="solid"/>
          </a:ln>
        </p:spPr>
      </p:sp>
      <p:sp>
        <p:nvSpPr>
          <p:cNvPr id="10" name="Text 7"/>
          <p:cNvSpPr txBox="1"/>
          <p:nvPr/>
        </p:nvSpPr>
        <p:spPr>
          <a:xfrm>
            <a:off x="6484468" y="2057400"/>
            <a:ext cx="4884268" cy="457200"/>
          </a:xfrm>
          <a:prstGeom prst="rect">
            <a:avLst/>
          </a:prstGeom>
          <a:noFill/>
          <a:ln/>
        </p:spPr>
        <p:txBody>
          <a:bodyPr wrap="square" lIns="0" tIns="0" rIns="0" bIns="0" rtlCol="0" anchor="ctr"/>
          <a:lstStyle/>
          <a:p>
            <a:pPr indent="0" marL="0">
              <a:buNone/>
            </a:pPr>
            <a:r>
              <a:rPr lang="en-US" sz="2200" b="1" dirty="0">
                <a:solidFill>
                  <a:srgbClr val="14213D"/>
                </a:solidFill>
              </a:rPr>
              <a:t>Kiểm thử</a:t>
            </a:r>
            <a:endParaRPr lang="en-US" sz="2200" dirty="0"/>
          </a:p>
        </p:txBody>
      </p:sp>
      <p:sp>
        <p:nvSpPr>
          <p:cNvPr id="11" name="Text 8"/>
          <p:cNvSpPr txBox="1"/>
          <p:nvPr/>
        </p:nvSpPr>
        <p:spPr>
          <a:xfrm>
            <a:off x="6484468" y="2606040"/>
            <a:ext cx="488426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B4659"/>
                </a:solidFill>
              </a:rPr>
              <a:t>Kiểm thử tích hợp chạy từ máy host vào các API và cơ sở dữ liệu chính</a:t>
            </a:r>
            <a:endParaRPr lang="en-US" sz="1600" dirty="0"/>
          </a:p>
          <a:p>
            <a:pPr marL="342900" indent="-342900">
              <a:spcAft>
                <a:spcPts val="800"/>
              </a:spcAft>
              <a:buSzPct val="100000"/>
              <a:buChar char="•"/>
            </a:pPr>
            <a:r>
              <a:rPr lang="en-US" sz="1600" dirty="0">
                <a:solidFill>
                  <a:srgbClr val="3B4659"/>
                </a:solidFill>
              </a:rPr>
              <a:t>Postman mô phỏng kịch bản thật: SOS, xác minh, giao đội, giải quyết</a:t>
            </a:r>
            <a:endParaRPr lang="en-US" sz="1600" dirty="0"/>
          </a:p>
          <a:p>
            <a:pPr marL="342900" indent="-342900">
              <a:spcAft>
                <a:spcPts val="800"/>
              </a:spcAft>
              <a:buSzPct val="100000"/>
              <a:buChar char="•"/>
            </a:pPr>
            <a:r>
              <a:rPr lang="en-US" sz="1600" dirty="0">
                <a:solidFill>
                  <a:srgbClr val="3B4659"/>
                </a:solidFill>
              </a:rPr>
              <a:t>Kiểm tra thông báo tiếng Việt ở đường thành công, lỗi, quyền và xung đột</a:t>
            </a:r>
            <a:endParaRPr lang="en-US" sz="1600" dirty="0"/>
          </a:p>
          <a:p>
            <a:pPr marL="342900" indent="-342900">
              <a:spcAft>
                <a:spcPts val="800"/>
              </a:spcAft>
              <a:buSzPct val="100000"/>
              <a:buChar char="•"/>
            </a:pPr>
            <a:r>
              <a:rPr lang="en-US" sz="1600" dirty="0">
                <a:solidFill>
                  <a:srgbClr val="3B4659"/>
                </a:solidFill>
              </a:rPr>
              <a:t>Truy vết yêu cầu UR, FR, NFR, UC, TC xuyên suốt tài liệu</a:t>
            </a:r>
            <a:endParaRPr lang="en-US" sz="1600" dirty="0"/>
          </a:p>
        </p:txBody>
      </p:sp>
      <p:sp>
        <p:nvSpPr>
          <p:cNvPr id="12" name="Text 9"/>
          <p:cNvSpPr txBox="1"/>
          <p:nvPr/>
        </p:nvSpPr>
        <p:spPr>
          <a:xfrm>
            <a:off x="548640" y="6263640"/>
            <a:ext cx="9601200" cy="320040"/>
          </a:xfrm>
          <a:prstGeom prst="rect">
            <a:avLst/>
          </a:prstGeom>
          <a:noFill/>
          <a:ln/>
        </p:spPr>
        <p:txBody>
          <a:bodyPr wrap="square" lIns="0" tIns="0" rIns="0" bIns="0" rtlCol="0" anchor="ctr"/>
          <a:lstStyle/>
          <a:p>
            <a:pPr indent="0" marL="0">
              <a:buNone/>
            </a:pPr>
            <a:r>
              <a:rPr lang="en-US" sz="1200" dirty="0">
                <a:solidFill>
                  <a:srgbClr val="5B6575"/>
                </a:solidFill>
              </a:rPr>
              <a:t>Tài liệu kèm theo: SRS, SDD, test case, hướng dẫn cài đặt và sử dụng.</a:t>
            </a:r>
            <a:endParaRPr lang="en-US" sz="1200" dirty="0"/>
          </a:p>
        </p:txBody>
      </p:sp>
      <p:sp>
        <p:nvSpPr>
          <p:cNvPr id="13" name="Text 10"/>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5B6575"/>
                </a:solidFill>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0911535" y="365760"/>
            <a:ext cx="731520" cy="731520"/>
          </a:xfrm>
          <a:prstGeom prst="ellipse">
            <a:avLst/>
          </a:prstGeom>
          <a:solidFill>
            <a:srgbClr val="FFFFFF"/>
          </a:solidFill>
          <a:ln w="12700">
            <a:solidFill>
              <a:srgbClr val="FFFFFF"/>
            </a:solidFill>
            <a:prstDash val="solid"/>
          </a:ln>
        </p:spPr>
      </p:sp>
      <p:pic>
        <p:nvPicPr>
          <p:cNvPr id="3" name="Image 0" descr="Logo Reliva">    </p:cNvPr>
          <p:cNvPicPr>
            <a:picLocks noChangeAspect="1"/>
          </p:cNvPicPr>
          <p:nvPr/>
        </p:nvPicPr>
        <p:blipFill>
          <a:blip r:embed="rId1"/>
          <a:stretch>
            <a:fillRect/>
          </a:stretch>
        </p:blipFill>
        <p:spPr>
          <a:xfrm>
            <a:off x="10992002" y="446227"/>
            <a:ext cx="570586" cy="570586"/>
          </a:xfrm>
          <a:prstGeom prst="rect">
            <a:avLst/>
          </a:prstGeom>
        </p:spPr>
      </p:pic>
      <p:sp>
        <p:nvSpPr>
          <p:cNvPr id="4" name="Text 1"/>
          <p:cNvSpPr txBox="1"/>
          <p:nvPr/>
        </p:nvSpPr>
        <p:spPr>
          <a:xfrm>
            <a:off x="548640" y="457200"/>
            <a:ext cx="9997135" cy="320040"/>
          </a:xfrm>
          <a:prstGeom prst="rect">
            <a:avLst/>
          </a:prstGeom>
          <a:noFill/>
          <a:ln/>
        </p:spPr>
        <p:txBody>
          <a:bodyPr wrap="square" lIns="0" tIns="0" rIns="0" bIns="0" rtlCol="0" anchor="ctr"/>
          <a:lstStyle/>
          <a:p>
            <a:pPr indent="0" marL="0">
              <a:buNone/>
            </a:pPr>
            <a:r>
              <a:rPr lang="en-US" sz="1400" b="1" spc="300" kern="0" dirty="0">
                <a:solidFill>
                  <a:srgbClr val="F28A5B"/>
                </a:solidFill>
              </a:rPr>
              <a:t>KẾT LUẬN</a:t>
            </a:r>
            <a:endParaRPr lang="en-US" sz="1400" dirty="0"/>
          </a:p>
        </p:txBody>
      </p:sp>
      <p:sp>
        <p:nvSpPr>
          <p:cNvPr id="5" name="Text 2"/>
          <p:cNvSpPr txBox="1"/>
          <p:nvPr/>
        </p:nvSpPr>
        <p:spPr>
          <a:xfrm>
            <a:off x="548640" y="822960"/>
            <a:ext cx="9997135" cy="1005840"/>
          </a:xfrm>
          <a:prstGeom prst="rect">
            <a:avLst/>
          </a:prstGeom>
          <a:noFill/>
          <a:ln/>
        </p:spPr>
        <p:txBody>
          <a:bodyPr wrap="square" lIns="0" tIns="0" rIns="0" bIns="0" rtlCol="0" anchor="t"/>
          <a:lstStyle/>
          <a:p>
            <a:pPr indent="0" marL="0">
              <a:buNone/>
            </a:pPr>
            <a:r>
              <a:rPr lang="en-US" sz="3200" b="1" dirty="0">
                <a:solidFill>
                  <a:srgbClr val="F4F6F9"/>
                </a:solidFill>
              </a:rPr>
              <a:t>Kết quả và hướng phát triển</a:t>
            </a:r>
            <a:endParaRPr lang="en-US" sz="3200" dirty="0"/>
          </a:p>
        </p:txBody>
      </p:sp>
      <p:sp>
        <p:nvSpPr>
          <p:cNvPr id="6" name="Shape 3"/>
          <p:cNvSpPr/>
          <p:nvPr/>
        </p:nvSpPr>
        <p:spPr>
          <a:xfrm>
            <a:off x="548640" y="1737360"/>
            <a:ext cx="5432908" cy="3108960"/>
          </a:xfrm>
          <a:prstGeom prst="roundRect">
            <a:avLst>
              <a:gd name="adj" fmla="val 3529"/>
            </a:avLst>
          </a:prstGeom>
          <a:solidFill>
            <a:srgbClr val="1B2A42"/>
          </a:solidFill>
          <a:ln w="12700">
            <a:solidFill>
              <a:srgbClr val="2B3D5C"/>
            </a:solidFill>
            <a:prstDash val="solid"/>
          </a:ln>
        </p:spPr>
      </p:sp>
      <p:sp>
        <p:nvSpPr>
          <p:cNvPr id="7" name="Text 4"/>
          <p:cNvSpPr txBox="1"/>
          <p:nvPr/>
        </p:nvSpPr>
        <p:spPr>
          <a:xfrm>
            <a:off x="822960" y="1874520"/>
            <a:ext cx="4884268" cy="457200"/>
          </a:xfrm>
          <a:prstGeom prst="rect">
            <a:avLst/>
          </a:prstGeom>
          <a:noFill/>
          <a:ln/>
        </p:spPr>
        <p:txBody>
          <a:bodyPr wrap="square" lIns="0" tIns="0" rIns="0" bIns="0" rtlCol="0" anchor="ctr"/>
          <a:lstStyle/>
          <a:p>
            <a:pPr indent="0" marL="0">
              <a:buNone/>
            </a:pPr>
            <a:r>
              <a:rPr lang="en-US" sz="2200" b="1" dirty="0">
                <a:solidFill>
                  <a:srgbClr val="F4F6F9"/>
                </a:solidFill>
              </a:rPr>
              <a:t>Đã thiết kế</a:t>
            </a:r>
            <a:endParaRPr lang="en-US" sz="2200" dirty="0"/>
          </a:p>
        </p:txBody>
      </p:sp>
      <p:sp>
        <p:nvSpPr>
          <p:cNvPr id="8" name="Text 5"/>
          <p:cNvSpPr txBox="1"/>
          <p:nvPr/>
        </p:nvSpPr>
        <p:spPr>
          <a:xfrm>
            <a:off x="822960" y="2423160"/>
            <a:ext cx="4884268" cy="2286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B8C4D6"/>
                </a:solidFill>
              </a:rPr>
              <a:t>Luồng chính: SOS, xác minh, ưu tiên, giao đội, giải quyết</a:t>
            </a:r>
            <a:endParaRPr lang="en-US" sz="1700" dirty="0"/>
          </a:p>
          <a:p>
            <a:pPr marL="342900" indent="-342900">
              <a:spcAft>
                <a:spcPts val="800"/>
              </a:spcAft>
              <a:buSzPct val="100000"/>
              <a:buChar char="•"/>
            </a:pPr>
            <a:r>
              <a:rPr lang="en-US" sz="1700" dirty="0">
                <a:solidFill>
                  <a:srgbClr val="B8C4D6"/>
                </a:solidFill>
              </a:rPr>
              <a:t>Ứng dụng Web cho điều phối, Mobile cho người dân và đội cứu hộ</a:t>
            </a:r>
            <a:endParaRPr lang="en-US" sz="1700" dirty="0"/>
          </a:p>
          <a:p>
            <a:pPr marL="342900" indent="-342900">
              <a:spcAft>
                <a:spcPts val="800"/>
              </a:spcAft>
              <a:buSzPct val="100000"/>
              <a:buChar char="•"/>
            </a:pPr>
            <a:r>
              <a:rPr lang="en-US" sz="1700" dirty="0">
                <a:solidFill>
                  <a:srgbClr val="B8C4D6"/>
                </a:solidFill>
              </a:rPr>
              <a:t>Quyên góp hiện vật như phần hỗ trợ</a:t>
            </a:r>
            <a:endParaRPr lang="en-US" sz="1700" dirty="0"/>
          </a:p>
        </p:txBody>
      </p:sp>
      <p:sp>
        <p:nvSpPr>
          <p:cNvPr id="9" name="Shape 6"/>
          <p:cNvSpPr/>
          <p:nvPr/>
        </p:nvSpPr>
        <p:spPr>
          <a:xfrm>
            <a:off x="6210148" y="1737360"/>
            <a:ext cx="5432908" cy="3108960"/>
          </a:xfrm>
          <a:prstGeom prst="roundRect">
            <a:avLst>
              <a:gd name="adj" fmla="val 3529"/>
            </a:avLst>
          </a:prstGeom>
          <a:solidFill>
            <a:srgbClr val="1B2A42"/>
          </a:solidFill>
          <a:ln w="12700">
            <a:solidFill>
              <a:srgbClr val="2B3D5C"/>
            </a:solidFill>
            <a:prstDash val="solid"/>
          </a:ln>
        </p:spPr>
      </p:sp>
      <p:sp>
        <p:nvSpPr>
          <p:cNvPr id="10" name="Text 7"/>
          <p:cNvSpPr txBox="1"/>
          <p:nvPr/>
        </p:nvSpPr>
        <p:spPr>
          <a:xfrm>
            <a:off x="6484468" y="1874520"/>
            <a:ext cx="4884268" cy="457200"/>
          </a:xfrm>
          <a:prstGeom prst="rect">
            <a:avLst/>
          </a:prstGeom>
          <a:noFill/>
          <a:ln/>
        </p:spPr>
        <p:txBody>
          <a:bodyPr wrap="square" lIns="0" tIns="0" rIns="0" bIns="0" rtlCol="0" anchor="ctr"/>
          <a:lstStyle/>
          <a:p>
            <a:pPr indent="0" marL="0">
              <a:buNone/>
            </a:pPr>
            <a:r>
              <a:rPr lang="en-US" sz="2200" b="1" dirty="0">
                <a:solidFill>
                  <a:srgbClr val="F4F6F9"/>
                </a:solidFill>
              </a:rPr>
              <a:t>Cần làm tiếp</a:t>
            </a:r>
            <a:endParaRPr lang="en-US" sz="2200" dirty="0"/>
          </a:p>
        </p:txBody>
      </p:sp>
      <p:sp>
        <p:nvSpPr>
          <p:cNvPr id="11" name="Text 8"/>
          <p:cNvSpPr txBox="1"/>
          <p:nvPr/>
        </p:nvSpPr>
        <p:spPr>
          <a:xfrm>
            <a:off x="6484468" y="2423160"/>
            <a:ext cx="4884268" cy="2286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B8C4D6"/>
                </a:solidFill>
              </a:rPr>
              <a:t>Chuyên gia rà soát tiêu chí ưu tiên P1–P4</a:t>
            </a:r>
            <a:endParaRPr lang="en-US" sz="1700" dirty="0"/>
          </a:p>
          <a:p>
            <a:pPr marL="342900" indent="-342900">
              <a:spcAft>
                <a:spcPts val="800"/>
              </a:spcAft>
              <a:buSzPct val="100000"/>
              <a:buChar char="•"/>
            </a:pPr>
            <a:r>
              <a:rPr lang="en-US" sz="1700" dirty="0">
                <a:solidFill>
                  <a:srgbClr val="B8C4D6"/>
                </a:solidFill>
              </a:rPr>
              <a:t>Chốt ngưỡng hiệu năng, thời gian lưu trữ dữ liệu</a:t>
            </a:r>
            <a:endParaRPr lang="en-US" sz="1700" dirty="0"/>
          </a:p>
          <a:p>
            <a:pPr marL="342900" indent="-342900">
              <a:spcAft>
                <a:spcPts val="800"/>
              </a:spcAft>
              <a:buSzPct val="100000"/>
              <a:buChar char="•"/>
            </a:pPr>
            <a:r>
              <a:rPr lang="en-US" sz="1700" dirty="0">
                <a:solidFill>
                  <a:srgbClr val="B8C4D6"/>
                </a:solidFill>
              </a:rPr>
              <a:t>Đánh giá AI hỗ trợ và hoạt động khi mất mạng</a:t>
            </a:r>
            <a:endParaRPr lang="en-US" sz="1700" dirty="0"/>
          </a:p>
        </p:txBody>
      </p:sp>
      <p:sp>
        <p:nvSpPr>
          <p:cNvPr id="12" name="Text 9"/>
          <p:cNvSpPr txBox="1"/>
          <p:nvPr/>
        </p:nvSpPr>
        <p:spPr>
          <a:xfrm>
            <a:off x="548640" y="5303520"/>
            <a:ext cx="11094415" cy="548640"/>
          </a:xfrm>
          <a:prstGeom prst="rect">
            <a:avLst/>
          </a:prstGeom>
          <a:noFill/>
          <a:ln/>
        </p:spPr>
        <p:txBody>
          <a:bodyPr wrap="square" lIns="0" tIns="0" rIns="0" bIns="0" rtlCol="0" anchor="ctr"/>
          <a:lstStyle/>
          <a:p>
            <a:pPr indent="0" marL="0">
              <a:buNone/>
            </a:pPr>
            <a:r>
              <a:rPr lang="en-US" sz="2400" b="1" dirty="0">
                <a:solidFill>
                  <a:srgbClr val="F28A5B"/>
                </a:solidFill>
              </a:rPr>
              <a:t>Cảm ơn quý thầy cô đã lắng nghe. Xin mời đặt câu hỏi.</a:t>
            </a:r>
            <a:endParaRPr lang="en-US" sz="2400" dirty="0"/>
          </a:p>
        </p:txBody>
      </p:sp>
      <p:sp>
        <p:nvSpPr>
          <p:cNvPr id="13" name="Text 10"/>
          <p:cNvSpPr txBox="1"/>
          <p:nvPr/>
        </p:nvSpPr>
        <p:spPr>
          <a:xfrm>
            <a:off x="10728655" y="6263640"/>
            <a:ext cx="914400" cy="320040"/>
          </a:xfrm>
          <a:prstGeom prst="rect">
            <a:avLst/>
          </a:prstGeom>
          <a:noFill/>
          <a:ln/>
        </p:spPr>
        <p:txBody>
          <a:bodyPr wrap="square" lIns="0" tIns="0" rIns="0" bIns="0" rtlCol="0" anchor="ctr"/>
          <a:lstStyle/>
          <a:p>
            <a:pPr algn="r" indent="0" marL="0">
              <a:buNone/>
            </a:pPr>
            <a:r>
              <a:rPr lang="en-US" sz="1200" dirty="0">
                <a:solidFill>
                  <a:srgbClr val="9AA8BD"/>
                </a:solidFill>
              </a:rPr>
              <a:t>17</a:t>
            </a:r>
            <a:endParaRPr lang="en-US" sz="1200" dirty="0"/>
          </a:p>
        </p:txBody>
      </p:sp>
    </p:spTree>
  </p:cSld>
  <p:clrMapOvr>
    <a:masterClrMapping/>
  </p:clrMapOvr>
</p:sld>
</file>

<file path=ppt/theme/theme1.xml><?xml version="1.0" encoding="utf-8"?>
<a:theme xmlns:a="http://schemas.openxmlformats.org/drawingml/2006/main" name="Reliva">
  <a:themeElements>
    <a:clrScheme name="Reliva">
      <a:dk1>
        <a:srgbClr val="14213D"/>
      </a:dk1>
      <a:lt1>
        <a:srgbClr val="FFFFFF"/>
      </a:lt1>
      <a:dk2>
        <a:srgbClr val="0F1B2D"/>
      </a:dk2>
      <a:lt2>
        <a:srgbClr val="F4F6F9"/>
      </a:lt2>
      <a:accent1>
        <a:srgbClr val="C2410C"/>
      </a:accent1>
      <a:accent2>
        <a:srgbClr val="F28A5B"/>
      </a:accent2>
      <a:accent3>
        <a:srgbClr val="2B3D5C"/>
      </a:accent3>
      <a:accent4>
        <a:srgbClr val="3B4659"/>
      </a:accent4>
      <a:accent5>
        <a:srgbClr val="B8C4D6"/>
      </a:accent5>
      <a:accent6>
        <a:srgbClr val="5B6575"/>
      </a:accent6>
      <a:hlink>
        <a:srgbClr val="C2410C"/>
      </a:hlink>
      <a:folHlink>
        <a:srgbClr val="5B6575"/>
      </a:folHlink>
    </a:clrScheme>
    <a:fontScheme name="Reliv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Reliva – Hệ thống quản lý ứng phó khẩn cấp và cứu trợ thiên tai</dc:title>
  <dc:subject>PptxGenJS Presentation</dc:subject>
  <dc:creator>PptxGenJS</dc:creator>
  <cp:lastModifiedBy>PptxGenJS</cp:lastModifiedBy>
  <cp:revision>1</cp:revision>
  <dcterms:created xsi:type="dcterms:W3CDTF">2026-10-30T04:09:54Z</dcterms:created>
  <dcterms:modified xsi:type="dcterms:W3CDTF">2026-10-30T04:09:54Z</dcterms:modified>
</cp:coreProperties>
</file>