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6583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6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C48  /  ĐỒ ÁN CAPSTONE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12618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9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1–2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856232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bài toán cứu trợ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đến nền tảng hệ thống</a:t>
            </a:r>
            <a:endParaRPr lang="en-US" sz="39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3584448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E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1–2 tập trung phân tích và thiết kế nền tảng trong lộ trình đồ án 10 tuần.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58978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quản lý ứng phó khẩn cấp và cứu trợ thiên tai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83880" y="2542032"/>
            <a:ext cx="1051560" cy="749808"/>
          </a:xfrm>
          <a:prstGeom prst="line">
            <a:avLst/>
          </a:prstGeom>
          <a:noFill/>
          <a:ln w="27940">
            <a:solidFill>
              <a:srgbClr val="70CF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74352" y="3794760"/>
            <a:ext cx="1051560" cy="749808"/>
          </a:xfrm>
          <a:prstGeom prst="line">
            <a:avLst/>
          </a:prstGeom>
          <a:noFill/>
          <a:ln w="27940">
            <a:solidFill>
              <a:srgbClr val="70CF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16368" y="1600200"/>
            <a:ext cx="1298448" cy="914400"/>
          </a:xfrm>
          <a:prstGeom prst="roundRect">
            <a:avLst/>
          </a:prstGeom>
          <a:solidFill>
            <a:srgbClr val="1B4658"/>
          </a:solidFill>
          <a:ln w="6350">
            <a:solidFill>
              <a:srgbClr val="1B46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28432" y="1746504"/>
            <a:ext cx="274320" cy="274320"/>
          </a:xfrm>
          <a:prstGeom prst="ellipse">
            <a:avLst/>
          </a:prstGeom>
          <a:solidFill>
            <a:srgbClr val="7ED7C8"/>
          </a:solidFill>
          <a:ln w="6350">
            <a:solidFill>
              <a:srgbClr val="7ED7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62088" y="2121408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BỐI CẢNH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15984" y="2852928"/>
            <a:ext cx="1298448" cy="914400"/>
          </a:xfrm>
          <a:prstGeom prst="roundRect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28048" y="2999232"/>
            <a:ext cx="274320" cy="274320"/>
          </a:xfrm>
          <a:prstGeom prst="ellipse">
            <a:avLst/>
          </a:prstGeom>
          <a:solidFill>
            <a:srgbClr val="7ED7C8"/>
          </a:solidFill>
          <a:ln w="6350">
            <a:solidFill>
              <a:srgbClr val="7ED7C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61704" y="3374136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YÊU CẦU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515600" y="4114800"/>
            <a:ext cx="1298448" cy="914400"/>
          </a:xfrm>
          <a:prstGeom prst="roundRect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027664" y="4261104"/>
            <a:ext cx="274320" cy="2743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61320" y="4636008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555955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A6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NỐI NGƯỜI DÂN  ·  ĐIỀU PHỐI  ·  CỨU HỘ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9808" y="4407408"/>
            <a:ext cx="6080760" cy="0"/>
          </a:xfrm>
          <a:prstGeom prst="line">
            <a:avLst/>
          </a:prstGeom>
          <a:noFill/>
          <a:ln w="12700">
            <a:solidFill>
              <a:srgbClr val="1B465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5537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A6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THÀNH VIÊN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482803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Nguyễn Lưu Tấn Sang  ·  N22DCCN068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507492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Vũ Ngọc Sơn  ·  N22DCCN071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532180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Đỗ Xuân Trí  ·  N22DCCN088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33672" y="4553712"/>
            <a:ext cx="0" cy="969264"/>
          </a:xfrm>
          <a:prstGeom prst="line">
            <a:avLst/>
          </a:prstGeom>
          <a:noFill/>
          <a:ln w="12700">
            <a:solidFill>
              <a:srgbClr val="1B465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80560" y="45537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A6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HƯỚNG DẪN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488289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TS. Trương Thị Mỹ Ngọc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84048"/>
            <a:ext cx="146304" cy="146304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3383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 /  THIẾT KẾ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704088"/>
            <a:ext cx="11018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cần C48?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10528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C48  ·  TUẦN 1–2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651052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Project context §§2–3, 6–8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335024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thông tin cứu trợ nằm rải rác, xác minh nhu cầu và phối hợp nguồn lực trở nên khó theo dõi.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" y="1920240"/>
            <a:ext cx="3401568" cy="1417320"/>
          </a:xfrm>
          <a:prstGeom prst="roundRect">
            <a:avLst/>
          </a:prstGeom>
          <a:solidFill>
            <a:srgbClr val="FBECE3"/>
          </a:solidFill>
          <a:ln w="6350">
            <a:solidFill>
              <a:srgbClr val="FBE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121408"/>
            <a:ext cx="137160" cy="137160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0704" y="2066544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tin rời rạc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523744"/>
            <a:ext cx="29626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SOS, tình hình và bằng chứng đến từ nhiều kênh.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1920240"/>
            <a:ext cx="3401568" cy="1417320"/>
          </a:xfrm>
          <a:prstGeom prst="roundRect">
            <a:avLst/>
          </a:prstGeom>
          <a:solidFill>
            <a:srgbClr val="DDF3EE"/>
          </a:solidFill>
          <a:ln w="6350">
            <a:solidFill>
              <a:srgbClr val="DDF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90288" y="2121408"/>
            <a:ext cx="137160" cy="137160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28032" y="2066544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 điều phối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608576" y="2523744"/>
            <a:ext cx="29626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xác minh yêu cầu, giao nhiệm vụ và theo dõi tiến độ.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56448" y="1920240"/>
            <a:ext cx="3401568" cy="1417320"/>
          </a:xfrm>
          <a:prstGeom prst="roundRect">
            <a:avLst/>
          </a:prstGeom>
          <a:solidFill>
            <a:srgbClr val="E9F1F5"/>
          </a:solidFill>
          <a:ln w="6350">
            <a:solidFill>
              <a:srgbClr val="E9F1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57616" y="2121408"/>
            <a:ext cx="137160" cy="137160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0" y="2066544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Thiếu truy vết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375904" y="2523744"/>
            <a:ext cx="29626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Kho, phương tiện và phân phối cần được ghi nhận minh bạch.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38221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MỤC TIÊU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" y="4261104"/>
            <a:ext cx="2011680" cy="10789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" y="4462272"/>
            <a:ext cx="329184" cy="329184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4462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216152" y="4379976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nhận SOS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51760" y="4791456"/>
            <a:ext cx="246888" cy="0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0" y="4261104"/>
            <a:ext cx="2011680" cy="10789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90672" y="4462272"/>
            <a:ext cx="329184" cy="329184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90672" y="4462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3520440" y="4379976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minh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56048" y="4791456"/>
            <a:ext cx="246888" cy="0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30368" y="4261104"/>
            <a:ext cx="2011680" cy="1078992"/>
          </a:xfrm>
          <a:prstGeom prst="roundRect">
            <a:avLst/>
          </a:prstGeom>
          <a:solidFill>
            <a:srgbClr val="102F43"/>
          </a:solidFill>
          <a:ln w="6350">
            <a:solidFill>
              <a:srgbClr val="102F4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94960" y="4462272"/>
            <a:ext cx="329184" cy="329184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94960" y="4462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824728" y="4379976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công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260336" y="4791456"/>
            <a:ext cx="246888" cy="0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34656" y="4261104"/>
            <a:ext cx="2011680" cy="10789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9248" y="4462272"/>
            <a:ext cx="329184" cy="329184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99248" y="4462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8129016" y="4379976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Cập nhật nhiệm vụ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564624" y="4791456"/>
            <a:ext cx="246888" cy="0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38944" y="4261104"/>
            <a:ext cx="2011680" cy="10789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003536" y="4462272"/>
            <a:ext cx="329184" cy="329184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003536" y="4462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10433304" y="4379976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cứu trợ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5650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là hỗ trợ quyết định và phối hợp; hệ thống không thay quyền quyết định của con người.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84048"/>
            <a:ext cx="146304" cy="146304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3383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 /  THIẾT KẾ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704088"/>
            <a:ext cx="11018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sử dụng và cần gì?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10528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C48  ·  TUẦN 1–2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651052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Project context §3; Technical plan §§7–9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" y="1536192"/>
            <a:ext cx="3337560" cy="1737360"/>
          </a:xfrm>
          <a:prstGeom prst="roundRect">
            <a:avLst/>
          </a:prstGeom>
          <a:solidFill>
            <a:srgbClr val="DDF3EE"/>
          </a:solidFill>
          <a:ln w="6350">
            <a:solidFill>
              <a:srgbClr val="DDF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1801368"/>
            <a:ext cx="420624" cy="420624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0392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173736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dân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" y="242316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Gửi SOS, cung cấp vị trí và theo dõi tiến độ.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16552" y="1536192"/>
            <a:ext cx="3337560" cy="1737360"/>
          </a:xfrm>
          <a:prstGeom prst="roundRect">
            <a:avLst/>
          </a:prstGeom>
          <a:solidFill>
            <a:srgbClr val="FBECE3"/>
          </a:solidFill>
          <a:ln w="6350">
            <a:solidFill>
              <a:srgbClr val="FBE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45152" y="1801368"/>
            <a:ext cx="420624" cy="420624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45152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173736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Tình nguyện / cứu hộ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672584" y="242316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nhiệm vụ, cập nhật tiến độ và kết quả.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11312" y="1536192"/>
            <a:ext cx="3337560" cy="1737360"/>
          </a:xfrm>
          <a:prstGeom prst="roundRect">
            <a:avLst/>
          </a:prstGeom>
          <a:solidFill>
            <a:srgbClr val="E9F1F5"/>
          </a:solidFill>
          <a:ln w="6350">
            <a:solidFill>
              <a:srgbClr val="E9F1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9912" y="1801368"/>
            <a:ext cx="420624" cy="420624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39912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173736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phối viên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467344" y="242316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minh, ưu tiên thủ công, phân công và theo dõi bản đồ.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14600" y="3657600"/>
            <a:ext cx="3337560" cy="1737360"/>
          </a:xfrm>
          <a:prstGeom prst="roundRect">
            <a:avLst/>
          </a:prstGeom>
          <a:solidFill>
            <a:srgbClr val="EAF5EF"/>
          </a:solidFill>
          <a:ln w="6350">
            <a:solidFill>
              <a:srgbClr val="EAF5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3922776"/>
            <a:ext cx="420624" cy="420624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43200" y="3922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310128" y="385876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vận hành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2770632" y="454456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chiến dịch, kho, phương tiện và điểm cứu trợ.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9360" y="3657600"/>
            <a:ext cx="3337560" cy="1737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7960" y="3922776"/>
            <a:ext cx="420624" cy="420624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37960" y="3922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104888" y="385876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viên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565392" y="454456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tài khoản, quyền và báo cáo vận hành.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8368" y="5687568"/>
            <a:ext cx="10744200" cy="457200"/>
          </a:xfrm>
          <a:prstGeom prst="roundRect">
            <a:avLst/>
          </a:prstGeom>
          <a:solidFill>
            <a:srgbClr val="102F43"/>
          </a:solidFill>
          <a:ln w="6350">
            <a:solidFill>
              <a:srgbClr val="102F4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96112" y="5788152"/>
            <a:ext cx="10241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quyền phải khớp vai trò, phạm vi dữ liệu và thao tác được phép.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84048"/>
            <a:ext cx="146304" cy="146304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3383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 /  THIẾT KẾ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704088"/>
            <a:ext cx="11018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Yêu cầu cần truy vết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10528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C48  ·  TUẦN 1–2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651052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Project context §§4, 7; Technical plan §§7, 13, 18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" y="1627632"/>
            <a:ext cx="3401568" cy="2743200"/>
          </a:xfrm>
          <a:prstGeom prst="roundRect">
            <a:avLst/>
          </a:prstGeom>
          <a:solidFill>
            <a:srgbClr val="DDF3EE"/>
          </a:solidFill>
          <a:ln w="6350">
            <a:solidFill>
              <a:srgbClr val="DDF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184708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578608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Nhu cầu người dùng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136392"/>
            <a:ext cx="2880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Biết yêu cầu SOS được xử lý ra sao.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và cập nhật nhiệm vụ.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nguồn lực cứu trợ.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89120" y="1627632"/>
            <a:ext cx="3401568" cy="2743200"/>
          </a:xfrm>
          <a:prstGeom prst="roundRect">
            <a:avLst/>
          </a:prstGeom>
          <a:solidFill>
            <a:srgbClr val="FBECE3"/>
          </a:solidFill>
          <a:ln w="6350">
            <a:solidFill>
              <a:srgbClr val="FBEC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36008" y="184708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7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2578608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Chức năng hệ thống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36008" y="3136392"/>
            <a:ext cx="2880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 và phân quyền.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nhận, xác minh, phân công SOS.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nhiệm vụ, kho và báo cáo.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56448" y="1627632"/>
            <a:ext cx="3401568" cy="2743200"/>
          </a:xfrm>
          <a:prstGeom prst="roundRect">
            <a:avLst/>
          </a:prstGeom>
          <a:solidFill>
            <a:srgbClr val="E9F1F5"/>
          </a:solidFill>
          <a:ln w="6350">
            <a:solidFill>
              <a:srgbClr val="E9F1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03336" y="184708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8403336" y="2578608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Chất lượng hệ thống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403336" y="3136392"/>
            <a:ext cx="2880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Dễ dùng trong tình huống khẩn cấp.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toàn và có truy vết.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lượng ngưỡng nghiệm thu.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4873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TRUY VẾT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148840" y="4645152"/>
            <a:ext cx="1417320" cy="685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212848" y="4773168"/>
            <a:ext cx="1289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bài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584448" y="4983480"/>
            <a:ext cx="365760" cy="0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95928" y="4645152"/>
            <a:ext cx="1417320" cy="685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59936" y="4773168"/>
            <a:ext cx="1289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 / FR / NFR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31536" y="4983480"/>
            <a:ext cx="365760" cy="0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43016" y="4645152"/>
            <a:ext cx="1417320" cy="685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07024" y="4773168"/>
            <a:ext cx="1289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78624" y="4983480"/>
            <a:ext cx="365760" cy="0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90104" y="4645152"/>
            <a:ext cx="1417320" cy="685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54112" y="4773168"/>
            <a:ext cx="1289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/ màn hình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125712" y="4983480"/>
            <a:ext cx="365760" cy="0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37192" y="4645152"/>
            <a:ext cx="1417320" cy="685800"/>
          </a:xfrm>
          <a:prstGeom prst="roundRect">
            <a:avLst/>
          </a:prstGeom>
          <a:solidFill>
            <a:srgbClr val="102F43"/>
          </a:solidFill>
          <a:ln w="6350">
            <a:solidFill>
              <a:srgbClr val="102F4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01200" y="4773168"/>
            <a:ext cx="1289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 / demo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57150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nguyên mã UR / FR / NFR / UC / TC khi cập nhật SRS, SDD và bằng chứng.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84048"/>
            <a:ext cx="146304" cy="146304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3383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 /  THIẾT KẾ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704088"/>
            <a:ext cx="11018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giữ ranh giới dữ liệu rõ ràng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10528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C48  ·  TUẦN 1–2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651052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Technical plan §§4–6, 10, 16, 22; Appendix A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3441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ứng dụng khách đi qua Nginx; ba dịch vụ NestJS tích hợp bằng REST / JSON.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1874520"/>
            <a:ext cx="2148840" cy="9326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2075688"/>
            <a:ext cx="137160" cy="137160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2020824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" y="2478024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phối · quản lý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3218688"/>
            <a:ext cx="2148840" cy="9326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" y="3419856"/>
            <a:ext cx="137160" cy="137160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3364992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" y="3822192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dân · cứu hộ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75888" y="2523744"/>
            <a:ext cx="1554480" cy="914400"/>
          </a:xfrm>
          <a:prstGeom prst="roundRect">
            <a:avLst/>
          </a:prstGeom>
          <a:solidFill>
            <a:srgbClr val="102F43"/>
          </a:solidFill>
          <a:ln w="6350">
            <a:solidFill>
              <a:srgbClr val="102F4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94760" y="2651760"/>
            <a:ext cx="1316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2807208" y="2331720"/>
            <a:ext cx="749808" cy="621792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07208" y="3675888"/>
            <a:ext cx="438912" cy="0"/>
          </a:xfrm>
          <a:prstGeom prst="line">
            <a:avLst/>
          </a:prstGeom>
          <a:noFill/>
          <a:ln w="25400">
            <a:solidFill>
              <a:srgbClr val="E978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2980944"/>
            <a:ext cx="0" cy="694944"/>
          </a:xfrm>
          <a:prstGeom prst="line">
            <a:avLst/>
          </a:prstGeom>
          <a:noFill/>
          <a:ln w="25400">
            <a:solidFill>
              <a:srgbClr val="E978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2980944"/>
            <a:ext cx="429768" cy="0"/>
          </a:xfrm>
          <a:prstGeom prst="line">
            <a:avLst/>
          </a:prstGeom>
          <a:noFill/>
          <a:ln w="25400">
            <a:solidFill>
              <a:srgbClr val="E978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30368" y="2980944"/>
            <a:ext cx="493776" cy="0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0" y="1975104"/>
            <a:ext cx="0" cy="2459736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15000" y="1975104"/>
            <a:ext cx="594360" cy="0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1581912"/>
            <a:ext cx="2212848" cy="8046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64808" y="168249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64808" y="202082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khoản · phiên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586216" y="1975104"/>
            <a:ext cx="448056" cy="0"/>
          </a:xfrm>
          <a:prstGeom prst="line">
            <a:avLst/>
          </a:prstGeom>
          <a:noFill/>
          <a:ln w="19050">
            <a:solidFill>
              <a:srgbClr val="5B71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70848" y="1645920"/>
            <a:ext cx="2240280" cy="658368"/>
          </a:xfrm>
          <a:prstGeom prst="roundRect">
            <a:avLst/>
          </a:prstGeom>
          <a:solidFill>
            <a:srgbClr val="E9F1F5"/>
          </a:solidFill>
          <a:ln w="6350">
            <a:solidFill>
              <a:srgbClr val="E9F1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89720" y="181051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DB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715000" y="3209544"/>
            <a:ext cx="594360" cy="0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2816352"/>
            <a:ext cx="2212848" cy="804672"/>
          </a:xfrm>
          <a:prstGeom prst="roundRect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64808" y="29169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464808" y="325526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· nhiệm vụ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586216" y="3209544"/>
            <a:ext cx="448056" cy="0"/>
          </a:xfrm>
          <a:prstGeom prst="line">
            <a:avLst/>
          </a:prstGeom>
          <a:noFill/>
          <a:ln w="19050">
            <a:solidFill>
              <a:srgbClr val="5B71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70848" y="2880360"/>
            <a:ext cx="2240280" cy="658368"/>
          </a:xfrm>
          <a:prstGeom prst="roundRect">
            <a:avLst/>
          </a:prstGeom>
          <a:solidFill>
            <a:srgbClr val="E9F1F5"/>
          </a:solidFill>
          <a:ln w="6350">
            <a:solidFill>
              <a:srgbClr val="E9F1F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89720" y="304495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DB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715000" y="4443984"/>
            <a:ext cx="594360" cy="0"/>
          </a:xfrm>
          <a:prstGeom prst="line">
            <a:avLst/>
          </a:prstGeom>
          <a:noFill/>
          <a:ln w="25400">
            <a:solidFill>
              <a:srgbClr val="087E8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4050792"/>
            <a:ext cx="2212848" cy="8046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64808" y="415137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464808" y="448970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 · phân phối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586216" y="4443984"/>
            <a:ext cx="448056" cy="0"/>
          </a:xfrm>
          <a:prstGeom prst="line">
            <a:avLst/>
          </a:prstGeom>
          <a:noFill/>
          <a:ln w="19050">
            <a:solidFill>
              <a:srgbClr val="5B71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070848" y="4114800"/>
            <a:ext cx="2240280" cy="658368"/>
          </a:xfrm>
          <a:prstGeom prst="roundRect">
            <a:avLst/>
          </a:prstGeom>
          <a:solidFill>
            <a:srgbClr val="E9F1F5"/>
          </a:solidFill>
          <a:ln w="6350">
            <a:solidFill>
              <a:srgbClr val="E9F1F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189720" y="427939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DB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85800" y="5413248"/>
            <a:ext cx="10652760" cy="530352"/>
          </a:xfrm>
          <a:prstGeom prst="roundRect">
            <a:avLst/>
          </a:prstGeom>
          <a:solidFill>
            <a:srgbClr val="DDF3EE"/>
          </a:solidFill>
          <a:ln w="6350">
            <a:solidFill>
              <a:srgbClr val="DDF3E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96112" y="5541264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dịch vụ tự sở hữu DB / migration; không truy vấn SQL hay khóa ngoại trực tiếp xuyên dịch vụ.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84048"/>
            <a:ext cx="146304" cy="146304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3383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 /  THIẾT KẾ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704088"/>
            <a:ext cx="11018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Ngăn xếp công nghệ theo kế hoạch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10528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C48  ·  TUẦN 1–2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651052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Technical plan §§2, 4, 6.3, 11–12, 15; Appendix A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" y="1572768"/>
            <a:ext cx="5257800" cy="1353312"/>
          </a:xfrm>
          <a:prstGeom prst="roundRect">
            <a:avLst/>
          </a:prstGeom>
          <a:solidFill>
            <a:srgbClr val="DDF3EE"/>
          </a:solidFill>
          <a:ln w="6350">
            <a:solidFill>
              <a:srgbClr val="DDF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773936"/>
            <a:ext cx="137160" cy="137160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0704" y="1719072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Máy chủ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176272"/>
            <a:ext cx="4818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 + TypeScript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TypeORM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1572768"/>
            <a:ext cx="5257800" cy="1353312"/>
          </a:xfrm>
          <a:prstGeom prst="roundRect">
            <a:avLst/>
          </a:prstGeom>
          <a:solidFill>
            <a:srgbClr val="FBECE3"/>
          </a:solidFill>
          <a:ln w="6350">
            <a:solidFill>
              <a:srgbClr val="FBE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73368" y="1773936"/>
            <a:ext cx="137160" cy="137160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11112" y="1719072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sở dữ liệu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391656" y="2176272"/>
            <a:ext cx="4818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PostGIS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riêng từng dịch vụ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" y="3200400"/>
            <a:ext cx="5257800" cy="1353312"/>
          </a:xfrm>
          <a:prstGeom prst="roundRect">
            <a:avLst/>
          </a:prstGeom>
          <a:solidFill>
            <a:srgbClr val="E9F1F5"/>
          </a:solidFill>
          <a:ln w="6350">
            <a:solidFill>
              <a:srgbClr val="E9F1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401568"/>
            <a:ext cx="137160" cy="137160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60704" y="3346704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3803904"/>
            <a:ext cx="4818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Web: React + Vite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Mobile: React Native + Expo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3200400"/>
            <a:ext cx="5257800" cy="1353312"/>
          </a:xfrm>
          <a:prstGeom prst="roundRect">
            <a:avLst/>
          </a:prstGeom>
          <a:solidFill>
            <a:srgbClr val="EAF5EF"/>
          </a:solidFill>
          <a:ln w="6350">
            <a:solidFill>
              <a:srgbClr val="EAF5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73368" y="3401568"/>
            <a:ext cx="137160" cy="137160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11112" y="3346704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Vận hành &amp; tệp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391656" y="3803904"/>
            <a:ext cx="4818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+ Docker Compose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 AIStor Free: kho lab một nút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8368" y="5074920"/>
            <a:ext cx="10744200" cy="713232"/>
          </a:xfrm>
          <a:prstGeom prst="roundRect">
            <a:avLst/>
          </a:prstGeom>
          <a:solidFill>
            <a:srgbClr val="102F43"/>
          </a:solidFill>
          <a:ln w="6350">
            <a:solidFill>
              <a:srgbClr val="102F4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6112" y="52120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9C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RANH GIỚI QUYẾT ĐỊNH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108960" y="5184648"/>
            <a:ext cx="8046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Đây là lựa chọn thiết kế trong kế hoạch kỹ thuật, không phải yêu cầu gốc. Xác minh điều khoản MinIO trước khi dùng.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591616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là tùy chọn, chỉ đưa gợi ý cho con người rà soát; không tự ưu tiên hoặc điều động cứu hộ.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84048"/>
            <a:ext cx="146304" cy="146304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3383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 /  THIẾT KẾ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704088"/>
            <a:ext cx="11018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SOS đến nhiệm vụ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10528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C48  ·  TUẦN 1–2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651052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Technical plan §§8–10, 16–17, 22–23; Appendix A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" y="1572768"/>
            <a:ext cx="3337560" cy="3063240"/>
          </a:xfrm>
          <a:prstGeom prst="roundRect">
            <a:avLst/>
          </a:prstGeom>
          <a:solidFill>
            <a:srgbClr val="DDF3EE"/>
          </a:solidFill>
          <a:ln w="6350">
            <a:solidFill>
              <a:srgbClr val="DDF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18013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dân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77824" y="2496312"/>
            <a:ext cx="274320" cy="274320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7824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43230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SOS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GPS / pin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77824" y="3154680"/>
            <a:ext cx="274320" cy="274320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09067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Gửi không cần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khoản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77824" y="3813048"/>
            <a:ext cx="274320" cy="274320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74904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bằng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 bí mật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416552" y="1572768"/>
            <a:ext cx="3337560" cy="3063240"/>
          </a:xfrm>
          <a:prstGeom prst="roundRect">
            <a:avLst/>
          </a:prstGeom>
          <a:solidFill>
            <a:srgbClr val="FBECE3"/>
          </a:solidFill>
          <a:ln w="6350">
            <a:solidFill>
              <a:srgbClr val="FBEC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99432" y="18013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phối viên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72584" y="2496312"/>
            <a:ext cx="274320" cy="274320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72584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243230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minh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672584" y="3154680"/>
            <a:ext cx="274320" cy="274320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72584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309067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tiên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thủ công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672584" y="3813048"/>
            <a:ext cx="274320" cy="274320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72584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166360" y="374904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công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đội cứu hộ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211312" y="1572768"/>
            <a:ext cx="3337560" cy="3063240"/>
          </a:xfrm>
          <a:prstGeom prst="roundRect">
            <a:avLst/>
          </a:prstGeom>
          <a:solidFill>
            <a:srgbClr val="E9F1F5"/>
          </a:solidFill>
          <a:ln w="6350">
            <a:solidFill>
              <a:srgbClr val="E9F1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94192" y="18013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Đội cứu hộ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467344" y="2496312"/>
            <a:ext cx="274320" cy="274320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67344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961120" y="243230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nhiệm vụ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467344" y="3154680"/>
            <a:ext cx="274320" cy="274320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67344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961120" y="309067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Cập nhật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 độ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467344" y="3813048"/>
            <a:ext cx="274320" cy="274320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467344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961120" y="374904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kết quả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bằng chứng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658368" y="4919472"/>
            <a:ext cx="5257800" cy="960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9536" y="5120640"/>
            <a:ext cx="137160" cy="137160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97280" y="506577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Thử lại an toàn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877824" y="5522976"/>
            <a:ext cx="4818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Khóa chống trùng giúp gửi lại SOS an toàn.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172200" y="4919472"/>
            <a:ext cx="5230368" cy="960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73368" y="5120640"/>
            <a:ext cx="137160" cy="137160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611112" y="5065776"/>
            <a:ext cx="4608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nhận trung thực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6391656" y="5522976"/>
            <a:ext cx="4791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nháp ngoại tuyến chỉ được báo nhận sau khi máy chủ xác nhận.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658368" y="60167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tiên và kết quả xác minh vẫn do con người chịu trách nhiệm.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84048"/>
            <a:ext cx="146304" cy="146304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3383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 /  THIẾT KẾ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704088"/>
            <a:ext cx="11018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việc tuần 1 và tuần 2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10528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C48  ·  TUẦN 1–2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651052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Đề cương đồ án, mục 5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" y="1600200"/>
            <a:ext cx="5257800" cy="35478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600200"/>
            <a:ext cx="5349240" cy="3547872"/>
          </a:xfrm>
          <a:prstGeom prst="roundRect">
            <a:avLst/>
          </a:prstGeom>
          <a:solidFill>
            <a:srgbClr val="102F43"/>
          </a:solidFill>
          <a:ln w="6350">
            <a:solidFill>
              <a:srgbClr val="102F4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1874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3591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Khảo sát và phân tích yêu cầu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2944368"/>
            <a:ext cx="4389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Khảo sát nghiệp vụ, phân tích yêu cầu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SRS: phạm vi + UR / FR / NFR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Use Case theo 5 nhóm vai trò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CSDL: ERD + thực thể / quan hệ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68172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ra: xem nội dung cụ thể ở trang 9–11.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1874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3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35915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và chuẩn bị phát triển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944368"/>
            <a:ext cx="4526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Thiết kế UI / UX cho Web và Mobile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Thiết kế kiến trúc hệ thống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Chuẩn bị môi trường phát triển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46817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ra: thiết kế UI / UX, kiến trúc, môi trường sẵn sàng.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" y="5449824"/>
            <a:ext cx="10744200" cy="530352"/>
          </a:xfrm>
          <a:prstGeom prst="roundRect">
            <a:avLst/>
          </a:prstGeom>
          <a:solidFill>
            <a:srgbClr val="FBECE3"/>
          </a:solidFill>
          <a:ln w="6350">
            <a:solidFill>
              <a:srgbClr val="FBEC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5568696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1–2 tạo nền phân tích và thiết kế trước khi bắt đầu phát triển module chính từ tuần 3.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84048"/>
            <a:ext cx="146304" cy="146304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3383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 /  THIẾT KẾ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704088"/>
            <a:ext cx="11018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SRS | Đặc tả yêu cầu phần mềm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10528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C48  ·  TUẦN 1–2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651052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Project context §§3–8; Technical plan §§7–9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335024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SRS (Software Requirements Specification) thống nhất hệ thống phục vụ ai, cần làm gì và yêu cầu nào phải đáp ứng.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" y="1865376"/>
            <a:ext cx="5257800" cy="1335024"/>
          </a:xfrm>
          <a:prstGeom prst="roundRect">
            <a:avLst/>
          </a:prstGeom>
          <a:solidFill>
            <a:srgbClr val="FBECE3"/>
          </a:solidFill>
          <a:ln w="6350">
            <a:solidFill>
              <a:srgbClr val="FBE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066544"/>
            <a:ext cx="137160" cy="137160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0704" y="2011680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Phạm vi và người dùng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468880"/>
            <a:ext cx="48188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tiêu; phạm vi Web / Mobile / Backend; 5 nhóm vai trò; điều kiện sử dụng trong tình huống thiên tai.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6172200" y="1865376"/>
            <a:ext cx="5349240" cy="1335024"/>
          </a:xfrm>
          <a:prstGeom prst="roundRect">
            <a:avLst/>
          </a:prstGeom>
          <a:solidFill>
            <a:srgbClr val="DDF3EE"/>
          </a:solidFill>
          <a:ln w="6350">
            <a:solidFill>
              <a:srgbClr val="DDF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73368" y="2066544"/>
            <a:ext cx="137160" cy="137160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11112" y="2011680"/>
            <a:ext cx="4727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Yêu cầu người dùng (UR)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6391656" y="2468880"/>
            <a:ext cx="4910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Nhu cầu theo vai trò: gửi / theo dõi SOS; nhận nhiệm vụ; điều phối cứu hộ; quản lý nguồn lực; quản trị hệ thống.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621792" y="3392424"/>
            <a:ext cx="5257800" cy="133502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593592"/>
            <a:ext cx="137160" cy="137160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0704" y="3538728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Yêu cầu chức năng (FR)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3995928"/>
            <a:ext cx="48188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nhận SOS; xác minh và phân công; cập nhật nhiệm vụ; quản lý kho / phân phối; dashboard và bản đồ.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6172200" y="3392424"/>
            <a:ext cx="5349240" cy="133502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73368" y="3593592"/>
            <a:ext cx="137160" cy="137160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11112" y="3538728"/>
            <a:ext cx="4727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Yêu cầu phi chức năng (NFR)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6391656" y="3995928"/>
            <a:ext cx="4910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Dễ dùng khi khẩn cấp; RBAC; bảo vệ vị trí / tệp; tin cậy và hiệu năng. Ghi tiêu chí đo được khi nhóm thống nhất.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621792" y="4892040"/>
            <a:ext cx="10899648" cy="1216152"/>
          </a:xfrm>
          <a:prstGeom prst="roundRect">
            <a:avLst/>
          </a:prstGeom>
          <a:solidFill>
            <a:srgbClr val="E9F1F5"/>
          </a:solidFill>
          <a:ln w="6350">
            <a:solidFill>
              <a:srgbClr val="E9F1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5093208"/>
            <a:ext cx="137160" cy="137160"/>
          </a:xfrm>
          <a:prstGeom prst="ellipse">
            <a:avLst/>
          </a:prstGeom>
          <a:solidFill>
            <a:srgbClr val="102F43"/>
          </a:solidFill>
          <a:ln w="6350">
            <a:solidFill>
              <a:srgbClr val="102F4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0704" y="5038344"/>
            <a:ext cx="10277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Quy tắc nghiệp vụ và truy vết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" y="5495544"/>
            <a:ext cx="104607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Gắn UR / FR / NFR với Use Case và kiểm thử; phân biệt yêu cầu gốc với đề xuất. Đánh dấu rõ chính sách còn mở như cách tính ưu tiên, trạng thái và thời hạn lưu dữ liệu.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84048"/>
            <a:ext cx="146304" cy="146304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3383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 /  THIẾT KẾ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704088"/>
            <a:ext cx="11018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| Mô hình và đặc tả ca sử dụng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10528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C48  ·  TUẦN 1–2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651052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Project context §3; Technical plan §§8–9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335024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mô tả từng vai trò tương tác với hệ thống để hoàn thành công việc.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" y="1810512"/>
            <a:ext cx="10899648" cy="566928"/>
          </a:xfrm>
          <a:prstGeom prst="roundRect">
            <a:avLst/>
          </a:prstGeom>
          <a:solidFill>
            <a:srgbClr val="DDF3EE"/>
          </a:solidFill>
          <a:ln w="6350">
            <a:solidFill>
              <a:srgbClr val="DDF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002536"/>
            <a:ext cx="164592" cy="164592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1911096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dân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3456432" y="18928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Gửi SOS kèm loại sự cố, số người, vị trí / minh chứng; theo dõi và cập nhật yêu cầu.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621792" y="2468880"/>
            <a:ext cx="10899648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2660904"/>
            <a:ext cx="164592" cy="164592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2569464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Đội cứu hộ / TNV</a:t>
            </a:r>
            <a:endParaRPr lang="en-US" sz="1320" dirty="0"/>
          </a:p>
        </p:txBody>
      </p:sp>
      <p:sp>
        <p:nvSpPr>
          <p:cNvPr id="16" name="Text 14"/>
          <p:cNvSpPr txBox="1"/>
          <p:nvPr/>
        </p:nvSpPr>
        <p:spPr>
          <a:xfrm>
            <a:off x="3456432" y="255117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Khai báo kỹ năng, mức sẵn sàng; nhận nhiệm vụ; cập nhật tiến độ và minh chứng.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621792" y="3127248"/>
            <a:ext cx="10899648" cy="566928"/>
          </a:xfrm>
          <a:prstGeom prst="roundRect">
            <a:avLst/>
          </a:prstGeom>
          <a:solidFill>
            <a:srgbClr val="DDF3EE"/>
          </a:solidFill>
          <a:ln w="6350">
            <a:solidFill>
              <a:srgbClr val="DDF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319272"/>
            <a:ext cx="164592" cy="164592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97280" y="322783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phối viên</a:t>
            </a:r>
            <a:endParaRPr lang="en-US" sz="1320" dirty="0"/>
          </a:p>
        </p:txBody>
      </p:sp>
      <p:sp>
        <p:nvSpPr>
          <p:cNvPr id="20" name="Text 18"/>
          <p:cNvSpPr txBox="1"/>
          <p:nvPr/>
        </p:nvSpPr>
        <p:spPr>
          <a:xfrm>
            <a:off x="3456432" y="320954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nhận, xác minh, đặt ưu tiên, phân công; theo dõi nhiệm vụ trên bản đồ.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621792" y="3785616"/>
            <a:ext cx="10899648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3977640"/>
            <a:ext cx="164592" cy="164592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97280" y="388620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vận hành</a:t>
            </a:r>
            <a:endParaRPr lang="en-US" sz="1320" dirty="0"/>
          </a:p>
        </p:txBody>
      </p:sp>
      <p:sp>
        <p:nvSpPr>
          <p:cNvPr id="24" name="Text 22"/>
          <p:cNvSpPr txBox="1"/>
          <p:nvPr/>
        </p:nvSpPr>
        <p:spPr>
          <a:xfrm>
            <a:off x="3456432" y="3867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chiến dịch, kho, phương tiện, điểm cứu trợ và phân phối nguồn lực.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621792" y="4443984"/>
            <a:ext cx="10899648" cy="566928"/>
          </a:xfrm>
          <a:prstGeom prst="roundRect">
            <a:avLst/>
          </a:prstGeom>
          <a:solidFill>
            <a:srgbClr val="DDF3EE"/>
          </a:solidFill>
          <a:ln w="6350">
            <a:solidFill>
              <a:srgbClr val="DDF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4636008"/>
            <a:ext cx="164592" cy="164592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97280" y="454456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viên</a:t>
            </a:r>
            <a:endParaRPr lang="en-US" sz="1320" dirty="0"/>
          </a:p>
        </p:txBody>
      </p:sp>
      <p:sp>
        <p:nvSpPr>
          <p:cNvPr id="28" name="Text 26"/>
          <p:cNvSpPr txBox="1"/>
          <p:nvPr/>
        </p:nvSpPr>
        <p:spPr>
          <a:xfrm>
            <a:off x="3456432" y="45262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tài khoản / phân quyền; theo dõi hoạt động và xem báo cáo thống kê.</a:t>
            </a:r>
            <a:endParaRPr lang="en-US" sz="1230" dirty="0"/>
          </a:p>
        </p:txBody>
      </p:sp>
      <p:sp>
        <p:nvSpPr>
          <p:cNvPr id="29" name="Shape 27"/>
          <p:cNvSpPr/>
          <p:nvPr/>
        </p:nvSpPr>
        <p:spPr>
          <a:xfrm>
            <a:off x="621792" y="5102352"/>
            <a:ext cx="5257800" cy="1097280"/>
          </a:xfrm>
          <a:prstGeom prst="roundRect">
            <a:avLst/>
          </a:prstGeom>
          <a:solidFill>
            <a:srgbClr val="FBECE3"/>
          </a:solidFill>
          <a:ln w="6350">
            <a:solidFill>
              <a:srgbClr val="FBEC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5303520"/>
            <a:ext cx="137160" cy="137160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60704" y="524865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UC-01 Gửi SOS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41248" y="5705856"/>
            <a:ext cx="4818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sự cố, số người, vị trí → gửi → nhận mã / trạng thái. Nếu GPS lỗi, ghim vị trí thủ công.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6172200" y="5102352"/>
            <a:ext cx="534924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73368" y="5303520"/>
            <a:ext cx="137160" cy="137160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11112" y="5248656"/>
            <a:ext cx="4727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Mẫu mô tả cho mỗi Use Case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6391656" y="5705856"/>
            <a:ext cx="4910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Mã, mục tiêu, tác nhân, điều kiện trước, luồng chính, nhánh lỗi, kết quả sau và liên kết UR / FR.</a:t>
            </a:r>
            <a:endParaRPr lang="en-US" sz="11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84048"/>
            <a:ext cx="146304" cy="146304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3383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 /  THIẾT KẾ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704088"/>
            <a:ext cx="11018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CSDL | ERD, thực thể và quan hệ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10528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C48  ·  TUẦN 1–2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651052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Technical plan §§5.2, 6.1–6.3, Appendix A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335024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1 lập mô hình khái niệm / logic để kiểm tra nghiệp vụ; chưa chốt toàn bộ cột và chính sách còn mở.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" y="1828800"/>
            <a:ext cx="3456432" cy="2057400"/>
          </a:xfrm>
          <a:prstGeom prst="roundRect">
            <a:avLst/>
          </a:prstGeom>
          <a:solidFill>
            <a:srgbClr val="DDF3EE"/>
          </a:solidFill>
          <a:ln w="6350">
            <a:solidFill>
              <a:srgbClr val="DDF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029968"/>
            <a:ext cx="137160" cy="137160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0704" y="19751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· tài khoản / quyền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432304"/>
            <a:ext cx="30175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khoản · Tổ chức · Khu vực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Thành viên · Quyền theo phạm vi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Phiên đăng nhập · Nhật ký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4370832" y="1828800"/>
            <a:ext cx="3456432" cy="2057400"/>
          </a:xfrm>
          <a:prstGeom prst="roundRect">
            <a:avLst/>
          </a:prstGeom>
          <a:solidFill>
            <a:srgbClr val="FBECE3"/>
          </a:solidFill>
          <a:ln w="6350">
            <a:solidFill>
              <a:srgbClr val="FBE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029968"/>
            <a:ext cx="137160" cy="137160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9744" y="19751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· SOS / cứu hộ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590288" y="2432304"/>
            <a:ext cx="30175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Chiến dịch · Yêu cầu SOS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Sự kiện / lịch sử yêu cầu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Đội cứu hộ · Hồ sơ tình nguyện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Nhiệm vụ · Minh chứng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8119872" y="1828800"/>
            <a:ext cx="3401568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2029968"/>
            <a:ext cx="137160" cy="137160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58784" y="1975104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· kho / phân phối</a:t>
            </a:r>
            <a:endParaRPr lang="en-US" sz="1420" dirty="0"/>
          </a:p>
        </p:txBody>
      </p:sp>
      <p:sp>
        <p:nvSpPr>
          <p:cNvPr id="20" name="Text 18"/>
          <p:cNvSpPr txBox="1"/>
          <p:nvPr/>
        </p:nvSpPr>
        <p:spPr>
          <a:xfrm>
            <a:off x="8339328" y="2432304"/>
            <a:ext cx="296265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1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 · Mặt hàng · Tồn kho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Sổ biến động · Nhu cầu cứu trợ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 kết · Điều chuyển · Phân phối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Phương tiện · Điểm cứu trợ</a:t>
            </a:r>
            <a:endParaRPr lang="en-US" sz="1210" dirty="0"/>
          </a:p>
        </p:txBody>
      </p:sp>
      <p:sp>
        <p:nvSpPr>
          <p:cNvPr id="21" name="Shape 19"/>
          <p:cNvSpPr/>
          <p:nvPr/>
        </p:nvSpPr>
        <p:spPr>
          <a:xfrm>
            <a:off x="621792" y="4114800"/>
            <a:ext cx="5257800" cy="129844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315968"/>
            <a:ext cx="137160" cy="137160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60704" y="4261104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 hệ cần thể hiện trên ERD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4718304"/>
            <a:ext cx="4818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→ lịch sử / minh chứng; SOS → nhiệm vụ → đội; kho + mặt hàng → tồn kho → biến động; nhu cầu → cam kết → phân phối.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4114800"/>
            <a:ext cx="5349240" cy="1298448"/>
          </a:xfrm>
          <a:prstGeom prst="roundRect">
            <a:avLst/>
          </a:prstGeom>
          <a:solidFill>
            <a:srgbClr val="E9F1F5"/>
          </a:solidFill>
          <a:ln w="6350">
            <a:solidFill>
              <a:srgbClr val="E9F1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73368" y="4315968"/>
            <a:ext cx="137160" cy="137160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11112" y="4261104"/>
            <a:ext cx="4727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Khóa và ranh giới dữ liệu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6391656" y="4718304"/>
            <a:ext cx="4910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khóa chính; bội số quan hệ (1–1 / 1–N); trường bắt buộc / duy nhất; chỉ mục GPS. Mỗi service sở hữu CSDL; ID liên service là mã tham chiếu, không có khóa ngoại xuyên CSDL.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658368" y="5559552"/>
            <a:ext cx="10744200" cy="502920"/>
          </a:xfrm>
          <a:prstGeom prst="roundRect">
            <a:avLst/>
          </a:prstGeom>
          <a:solidFill>
            <a:srgbClr val="102F43"/>
          </a:solidFill>
          <a:ln w="6350">
            <a:solidFill>
              <a:srgbClr val="102F4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77824" y="5669280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ra: ERD khái niệm + danh sách thực thể / thuộc tính / quan hệ / ràng buộc; chính sách chưa thống nhất được ghi rõ là còn mở.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84048"/>
            <a:ext cx="146304" cy="146304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3383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 /  THIẾT KẾ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704088"/>
            <a:ext cx="11018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Lộ trình đồ án 10 tuần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510528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C48  ·  TUẦN 1–2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651052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Đề cương đồ án, mục 5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335024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1–2 tập trung phân tích và thiết kế; tuần 3–9 triển khai, hoàn thiện và bảo vệ; tuần 10 là dự phòng.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" y="1856232"/>
            <a:ext cx="3337560" cy="1600200"/>
          </a:xfrm>
          <a:prstGeom prst="roundRect">
            <a:avLst/>
          </a:prstGeom>
          <a:solidFill>
            <a:srgbClr val="DDF3EE"/>
          </a:solidFill>
          <a:ln w="6350">
            <a:solidFill>
              <a:srgbClr val="DD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01168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7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395728"/>
            <a:ext cx="2935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Khảo sát · phân tích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834640"/>
            <a:ext cx="2935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Yêu cầu · SRS · Use Case · CSDL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87952" y="1856232"/>
            <a:ext cx="3337560" cy="1600200"/>
          </a:xfrm>
          <a:prstGeom prst="roundRect">
            <a:avLst/>
          </a:prstGeom>
          <a:solidFill>
            <a:srgbClr val="FBECE3"/>
          </a:solidFill>
          <a:ln w="6350">
            <a:solidFill>
              <a:srgbClr val="FBEC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89120" y="201168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70" kern="0" dirty="0">
                <a:solidFill>
                  <a:srgbClr val="087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2395728"/>
            <a:ext cx="2935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· chuẩn bị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2834640"/>
            <a:ext cx="2935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/ UX · kiến trúc · môi trường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54112" y="1856232"/>
            <a:ext cx="3767328" cy="1600200"/>
          </a:xfrm>
          <a:prstGeom prst="roundRect">
            <a:avLst/>
          </a:prstGeom>
          <a:solidFill>
            <a:srgbClr val="102F43"/>
          </a:solidFill>
          <a:ln w="6350">
            <a:solidFill>
              <a:srgbClr val="102F4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55280" y="201168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70" kern="0" dirty="0">
                <a:solidFill>
                  <a:srgbClr val="8AD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3–6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2395728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triển module chính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2834640"/>
            <a:ext cx="3364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thực / RBAC · SOS · nhiệm vụ cứu hộ · tình nguyện viên · kho / nguồn lực / điểm cứu trợ · dashboard / bản đồ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" y="3886200"/>
            <a:ext cx="2578608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4087368"/>
            <a:ext cx="274320" cy="274320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88720" y="40416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535424"/>
            <a:ext cx="21762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hệ thống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· sửa lỗi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401568" y="3886200"/>
            <a:ext cx="2578608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84448" y="4087368"/>
            <a:ext cx="274320" cy="274320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68496" y="40416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8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602736" y="4535424"/>
            <a:ext cx="21762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 kỹ thuật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· chuẩn bị demo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81344" y="3886200"/>
            <a:ext cx="2578608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64224" y="4087368"/>
            <a:ext cx="274320" cy="274320"/>
          </a:xfrm>
          <a:prstGeom prst="ellipse">
            <a:avLst/>
          </a:prstGeom>
          <a:solidFill>
            <a:srgbClr val="087E83"/>
          </a:solidFill>
          <a:ln w="6350">
            <a:solidFill>
              <a:srgbClr val="087E8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48272" y="40416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382512" y="4535424"/>
            <a:ext cx="21762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sản phẩm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vệ đồ án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961120" y="3886200"/>
            <a:ext cx="2578608" cy="1417320"/>
          </a:xfrm>
          <a:prstGeom prst="roundRect">
            <a:avLst/>
          </a:prstGeom>
          <a:solidFill>
            <a:srgbClr val="FBECE3"/>
          </a:solidFill>
          <a:ln w="6350">
            <a:solidFill>
              <a:srgbClr val="FBEC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0" y="4087368"/>
            <a:ext cx="274320" cy="274320"/>
          </a:xfrm>
          <a:prstGeom prst="ellipse">
            <a:avLst/>
          </a:prstGeom>
          <a:solidFill>
            <a:srgbClr val="E97845"/>
          </a:solidFill>
          <a:ln w="6350">
            <a:solidFill>
              <a:srgbClr val="E9784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528048" y="40416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10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162288" y="4535424"/>
            <a:ext cx="21762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3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 phòng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58368" y="5596128"/>
            <a:ext cx="10744200" cy="475488"/>
          </a:xfrm>
          <a:prstGeom prst="roundRect">
            <a:avLst/>
          </a:prstGeom>
          <a:solidFill>
            <a:srgbClr val="102F43"/>
          </a:solidFill>
          <a:ln w="6350">
            <a:solidFill>
              <a:srgbClr val="102F4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96112" y="569671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Mốc kiểm soát: hoàn thiện tích hợp ở tuần 7, chốt tài liệu và demo ở tuần 8, bảo vệ tuần 9, giữ tuần 10 dự phòng.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C48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C48 — Tuần 1–2</dc:title>
  <dc:subject>Phân tích yêu cầu và thiết kế nền tảng trong tuần 1–2</dc:subject>
  <dc:creator>C48</dc:creator>
  <cp:lastModifiedBy>C48</cp:lastModifiedBy>
  <cp:revision>1</cp:revision>
  <dcterms:created xsi:type="dcterms:W3CDTF">2026-10-05T15:19:54Z</dcterms:created>
  <dcterms:modified xsi:type="dcterms:W3CDTF">2026-10-05T15:19:54Z</dcterms:modified>
</cp:coreProperties>
</file>